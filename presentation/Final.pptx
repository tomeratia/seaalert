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Norwester" charset="1" panose="00000506000000000000"/>
      <p:regular r:id="rId14"/>
    </p:embeddedFont>
    <p:embeddedFont>
      <p:font typeface="Arimo Bold" charset="1" panose="020B0704020202020204"/>
      <p:regular r:id="rId15"/>
    </p:embeddedFont>
    <p:embeddedFont>
      <p:font typeface="Alef" charset="1" panose="00000500000000000000"/>
      <p:regular r:id="rId16"/>
    </p:embeddedFont>
    <p:embeddedFont>
      <p:font typeface="Alef Bold" charset="1" panose="000005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0" t="0" r="0" b="0"/>
            </a:stretch>
          </a:blipFill>
        </p:spPr>
      </p:sp>
      <p:grpSp>
        <p:nvGrpSpPr>
          <p:cNvPr name="Group 3" id="3"/>
          <p:cNvGrpSpPr/>
          <p:nvPr/>
        </p:nvGrpSpPr>
        <p:grpSpPr>
          <a:xfrm rot="0">
            <a:off x="4835048" y="1673110"/>
            <a:ext cx="8617905" cy="2315169"/>
            <a:chOff x="0" y="0"/>
            <a:chExt cx="3243802" cy="871436"/>
          </a:xfrm>
        </p:grpSpPr>
        <p:sp>
          <p:nvSpPr>
            <p:cNvPr name="Freeform 4" id="4"/>
            <p:cNvSpPr/>
            <p:nvPr/>
          </p:nvSpPr>
          <p:spPr>
            <a:xfrm flipH="false" flipV="false" rot="0">
              <a:off x="0" y="0"/>
              <a:ext cx="3243802" cy="871436"/>
            </a:xfrm>
            <a:custGeom>
              <a:avLst/>
              <a:gdLst/>
              <a:ahLst/>
              <a:cxnLst/>
              <a:rect r="r" b="b" t="t" l="l"/>
              <a:pathLst>
                <a:path h="871436" w="3243802">
                  <a:moveTo>
                    <a:pt x="45816" y="0"/>
                  </a:moveTo>
                  <a:lnTo>
                    <a:pt x="3197986" y="0"/>
                  </a:lnTo>
                  <a:cubicBezTo>
                    <a:pt x="3223290" y="0"/>
                    <a:pt x="3243802" y="20513"/>
                    <a:pt x="3243802" y="45816"/>
                  </a:cubicBezTo>
                  <a:lnTo>
                    <a:pt x="3243802" y="825620"/>
                  </a:lnTo>
                  <a:cubicBezTo>
                    <a:pt x="3243802" y="850923"/>
                    <a:pt x="3223290" y="871436"/>
                    <a:pt x="3197986" y="871436"/>
                  </a:cubicBezTo>
                  <a:lnTo>
                    <a:pt x="45816" y="871436"/>
                  </a:lnTo>
                  <a:cubicBezTo>
                    <a:pt x="20513" y="871436"/>
                    <a:pt x="0" y="850923"/>
                    <a:pt x="0" y="825620"/>
                  </a:cubicBezTo>
                  <a:lnTo>
                    <a:pt x="0" y="45816"/>
                  </a:lnTo>
                  <a:cubicBezTo>
                    <a:pt x="0" y="20513"/>
                    <a:pt x="20513" y="0"/>
                    <a:pt x="45816" y="0"/>
                  </a:cubicBezTo>
                  <a:close/>
                </a:path>
              </a:pathLst>
            </a:custGeom>
            <a:solidFill>
              <a:srgbClr val="F8F6F7">
                <a:alpha val="50980"/>
              </a:srgbClr>
            </a:solidFill>
            <a:ln w="19050" cap="rnd">
              <a:solidFill>
                <a:srgbClr val="FFFFFF">
                  <a:alpha val="50980"/>
                </a:srgbClr>
              </a:solidFill>
              <a:prstDash val="solid"/>
              <a:round/>
            </a:ln>
          </p:spPr>
        </p:sp>
        <p:sp>
          <p:nvSpPr>
            <p:cNvPr name="TextBox 5" id="5"/>
            <p:cNvSpPr txBox="true"/>
            <p:nvPr/>
          </p:nvSpPr>
          <p:spPr>
            <a:xfrm>
              <a:off x="0" y="85725"/>
              <a:ext cx="3243802" cy="785711"/>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6" id="6"/>
          <p:cNvSpPr txBox="true"/>
          <p:nvPr/>
        </p:nvSpPr>
        <p:spPr>
          <a:xfrm rot="0">
            <a:off x="5032209" y="1906035"/>
            <a:ext cx="8115300" cy="2082245"/>
          </a:xfrm>
          <a:prstGeom prst="rect">
            <a:avLst/>
          </a:prstGeom>
        </p:spPr>
        <p:txBody>
          <a:bodyPr anchor="t" rtlCol="false" tIns="0" lIns="0" bIns="0" rIns="0">
            <a:spAutoFit/>
          </a:bodyPr>
          <a:lstStyle/>
          <a:p>
            <a:pPr algn="l">
              <a:lnSpc>
                <a:spcPts val="15603"/>
              </a:lnSpc>
            </a:pPr>
            <a:r>
              <a:rPr lang="en-US" sz="15603">
                <a:solidFill>
                  <a:srgbClr val="3C7886"/>
                </a:solidFill>
                <a:latin typeface="Norwester"/>
                <a:ea typeface="Norwester"/>
                <a:cs typeface="Norwester"/>
                <a:sym typeface="Norwester"/>
              </a:rPr>
              <a:t>SEAALERT</a:t>
            </a:r>
          </a:p>
        </p:txBody>
      </p:sp>
      <p:sp>
        <p:nvSpPr>
          <p:cNvPr name="TextBox 7" id="7"/>
          <p:cNvSpPr txBox="true"/>
          <p:nvPr/>
        </p:nvSpPr>
        <p:spPr>
          <a:xfrm rot="0">
            <a:off x="3394801" y="1129430"/>
            <a:ext cx="11390114" cy="481330"/>
          </a:xfrm>
          <a:prstGeom prst="rect">
            <a:avLst/>
          </a:prstGeom>
        </p:spPr>
        <p:txBody>
          <a:bodyPr anchor="t" rtlCol="false" tIns="0" lIns="0" bIns="0" rIns="0">
            <a:spAutoFit/>
          </a:bodyPr>
          <a:lstStyle/>
          <a:p>
            <a:pPr algn="ctr">
              <a:lnSpc>
                <a:spcPts val="3920"/>
              </a:lnSpc>
              <a:spcBef>
                <a:spcPct val="0"/>
              </a:spcBef>
            </a:pPr>
            <a:r>
              <a:rPr lang="en-US" sz="2800">
                <a:solidFill>
                  <a:srgbClr val="FFD166"/>
                </a:solidFill>
                <a:latin typeface="Norwester"/>
                <a:ea typeface="Norwester"/>
                <a:cs typeface="Norwester"/>
                <a:sym typeface="Norwester"/>
              </a:rPr>
              <a:t> </a:t>
            </a:r>
            <a:r>
              <a:rPr lang="en-US" sz="2800">
                <a:solidFill>
                  <a:srgbClr val="FFD166"/>
                </a:solidFill>
                <a:latin typeface="Norwester"/>
                <a:ea typeface="Norwester"/>
                <a:cs typeface="Norwester"/>
                <a:sym typeface="Norwester"/>
              </a:rPr>
              <a:t>Maritime Communication Severity Classification &amp; Information Extraction</a:t>
            </a:r>
          </a:p>
        </p:txBody>
      </p:sp>
      <p:sp>
        <p:nvSpPr>
          <p:cNvPr name="TextBox 8" id="8"/>
          <p:cNvSpPr txBox="true"/>
          <p:nvPr/>
        </p:nvSpPr>
        <p:spPr>
          <a:xfrm rot="0">
            <a:off x="5407938" y="8776970"/>
            <a:ext cx="6906884" cy="481330"/>
          </a:xfrm>
          <a:prstGeom prst="rect">
            <a:avLst/>
          </a:prstGeom>
        </p:spPr>
        <p:txBody>
          <a:bodyPr anchor="t" rtlCol="false" tIns="0" lIns="0" bIns="0" rIns="0">
            <a:spAutoFit/>
          </a:bodyPr>
          <a:lstStyle/>
          <a:p>
            <a:pPr algn="ctr" marL="0" indent="0" lvl="0">
              <a:lnSpc>
                <a:spcPts val="3920"/>
              </a:lnSpc>
              <a:spcBef>
                <a:spcPct val="0"/>
              </a:spcBef>
            </a:pPr>
            <a:r>
              <a:rPr lang="en-US" sz="2800" strike="noStrike" u="none">
                <a:solidFill>
                  <a:srgbClr val="FFFFFF"/>
                </a:solidFill>
                <a:latin typeface="Norwester"/>
                <a:ea typeface="Norwester"/>
                <a:cs typeface="Norwester"/>
                <a:sym typeface="Norwester"/>
              </a:rPr>
              <a:t>Presenter: Tomer Atia, Ilana Estrin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 t="0" r="-12" b="0"/>
            </a:stretch>
          </a:blipFill>
        </p:spPr>
      </p:sp>
      <p:sp>
        <p:nvSpPr>
          <p:cNvPr name="TextBox 3" id="3"/>
          <p:cNvSpPr txBox="true"/>
          <p:nvPr/>
        </p:nvSpPr>
        <p:spPr>
          <a:xfrm rot="0">
            <a:off x="2841857" y="428625"/>
            <a:ext cx="12913816" cy="1057275"/>
          </a:xfrm>
          <a:prstGeom prst="rect">
            <a:avLst/>
          </a:prstGeom>
        </p:spPr>
        <p:txBody>
          <a:bodyPr anchor="t" rtlCol="false" tIns="0" lIns="0" bIns="0" rIns="0">
            <a:spAutoFit/>
          </a:bodyPr>
          <a:lstStyle/>
          <a:p>
            <a:pPr algn="ctr" rtl="true">
              <a:lnSpc>
                <a:spcPts val="8400"/>
              </a:lnSpc>
            </a:pPr>
            <a:r>
              <a:rPr lang="en-US" b="true" sz="6000">
                <a:solidFill>
                  <a:srgbClr val="FFFFFF"/>
                </a:solidFill>
                <a:latin typeface="Arimo Bold"/>
                <a:ea typeface="Arimo Bold"/>
                <a:cs typeface="Arimo Bold"/>
                <a:sym typeface="Arimo Bold"/>
              </a:rPr>
              <a:t>Review &amp; Refined Project</a:t>
            </a:r>
            <a:r>
              <a:rPr lang="en-US" b="true" sz="6000">
                <a:solidFill>
                  <a:srgbClr val="FFFFFF"/>
                </a:solidFill>
                <a:latin typeface="Arimo Bold"/>
                <a:ea typeface="Arimo Bold"/>
                <a:cs typeface="Arimo Bold"/>
                <a:sym typeface="Arimo Bold"/>
              </a:rPr>
              <a:t> Definition</a:t>
            </a:r>
          </a:p>
        </p:txBody>
      </p:sp>
      <p:sp>
        <p:nvSpPr>
          <p:cNvPr name="TextBox 4" id="4"/>
          <p:cNvSpPr txBox="true"/>
          <p:nvPr/>
        </p:nvSpPr>
        <p:spPr>
          <a:xfrm rot="0">
            <a:off x="3068931" y="4507275"/>
            <a:ext cx="3138019" cy="665480"/>
          </a:xfrm>
          <a:prstGeom prst="rect">
            <a:avLst/>
          </a:prstGeom>
        </p:spPr>
        <p:txBody>
          <a:bodyPr anchor="t" rtlCol="false" tIns="0" lIns="0" bIns="0" rIns="0">
            <a:spAutoFit/>
          </a:bodyPr>
          <a:lstStyle/>
          <a:p>
            <a:pPr algn="ctr" rtl="true" marL="0" indent="0" lvl="0">
              <a:lnSpc>
                <a:spcPts val="5320"/>
              </a:lnSpc>
              <a:spcBef>
                <a:spcPct val="0"/>
              </a:spcBef>
            </a:pPr>
            <a:r>
              <a:rPr lang="en-US" b="true" sz="3800" strike="noStrike" u="none">
                <a:solidFill>
                  <a:srgbClr val="FFFFFF"/>
                </a:solidFill>
                <a:latin typeface="Arimo Bold"/>
                <a:ea typeface="Arimo Bold"/>
                <a:cs typeface="Arimo Bold"/>
                <a:sym typeface="Arimo Bold"/>
              </a:rPr>
              <a:t>INPUT</a:t>
            </a:r>
          </a:p>
        </p:txBody>
      </p:sp>
      <p:grpSp>
        <p:nvGrpSpPr>
          <p:cNvPr name="Group 5" id="5"/>
          <p:cNvGrpSpPr/>
          <p:nvPr/>
        </p:nvGrpSpPr>
        <p:grpSpPr>
          <a:xfrm rot="0">
            <a:off x="8924240" y="4965081"/>
            <a:ext cx="7445621" cy="2869644"/>
            <a:chOff x="0" y="0"/>
            <a:chExt cx="2802552" cy="1080142"/>
          </a:xfrm>
        </p:grpSpPr>
        <p:sp>
          <p:nvSpPr>
            <p:cNvPr name="Freeform 6" id="6"/>
            <p:cNvSpPr/>
            <p:nvPr/>
          </p:nvSpPr>
          <p:spPr>
            <a:xfrm flipH="false" flipV="false" rot="0">
              <a:off x="0" y="0"/>
              <a:ext cx="2802551" cy="1080142"/>
            </a:xfrm>
            <a:custGeom>
              <a:avLst/>
              <a:gdLst/>
              <a:ahLst/>
              <a:cxnLst/>
              <a:rect r="r" b="b" t="t" l="l"/>
              <a:pathLst>
                <a:path h="1080142" w="2802551">
                  <a:moveTo>
                    <a:pt x="21836" y="0"/>
                  </a:moveTo>
                  <a:lnTo>
                    <a:pt x="2780716" y="0"/>
                  </a:lnTo>
                  <a:cubicBezTo>
                    <a:pt x="2786507" y="0"/>
                    <a:pt x="2792061" y="2301"/>
                    <a:pt x="2796156" y="6396"/>
                  </a:cubicBezTo>
                  <a:cubicBezTo>
                    <a:pt x="2800251" y="10491"/>
                    <a:pt x="2802551" y="16045"/>
                    <a:pt x="2802551" y="21836"/>
                  </a:cubicBezTo>
                  <a:lnTo>
                    <a:pt x="2802551" y="1058306"/>
                  </a:lnTo>
                  <a:cubicBezTo>
                    <a:pt x="2802551" y="1064097"/>
                    <a:pt x="2800251" y="1069651"/>
                    <a:pt x="2796156" y="1073746"/>
                  </a:cubicBezTo>
                  <a:cubicBezTo>
                    <a:pt x="2792061" y="1077841"/>
                    <a:pt x="2786507" y="1080142"/>
                    <a:pt x="2780716" y="1080142"/>
                  </a:cubicBezTo>
                  <a:lnTo>
                    <a:pt x="21836" y="1080142"/>
                  </a:lnTo>
                  <a:cubicBezTo>
                    <a:pt x="16045" y="1080142"/>
                    <a:pt x="10491" y="1077841"/>
                    <a:pt x="6396" y="1073746"/>
                  </a:cubicBezTo>
                  <a:cubicBezTo>
                    <a:pt x="2301" y="1069651"/>
                    <a:pt x="0" y="1064097"/>
                    <a:pt x="0" y="1058306"/>
                  </a:cubicBezTo>
                  <a:lnTo>
                    <a:pt x="0" y="21836"/>
                  </a:lnTo>
                  <a:cubicBezTo>
                    <a:pt x="0" y="16045"/>
                    <a:pt x="2301" y="10491"/>
                    <a:pt x="6396" y="6396"/>
                  </a:cubicBezTo>
                  <a:cubicBezTo>
                    <a:pt x="10491" y="2301"/>
                    <a:pt x="16045" y="0"/>
                    <a:pt x="21836" y="0"/>
                  </a:cubicBezTo>
                  <a:close/>
                </a:path>
              </a:pathLst>
            </a:custGeom>
            <a:solidFill>
              <a:srgbClr val="131B1F">
                <a:alpha val="81961"/>
              </a:srgbClr>
            </a:solidFill>
            <a:ln w="19050" cap="rnd">
              <a:solidFill>
                <a:srgbClr val="FFFFFF">
                  <a:alpha val="81961"/>
                </a:srgbClr>
              </a:solidFill>
              <a:prstDash val="solid"/>
              <a:round/>
            </a:ln>
          </p:spPr>
        </p:sp>
        <p:sp>
          <p:nvSpPr>
            <p:cNvPr name="TextBox 7" id="7"/>
            <p:cNvSpPr txBox="true"/>
            <p:nvPr/>
          </p:nvSpPr>
          <p:spPr>
            <a:xfrm>
              <a:off x="0" y="76200"/>
              <a:ext cx="2802552" cy="1003942"/>
            </a:xfrm>
            <a:prstGeom prst="rect">
              <a:avLst/>
            </a:prstGeom>
          </p:spPr>
          <p:txBody>
            <a:bodyPr anchor="ctr" rtlCol="false" tIns="50800" lIns="50800" bIns="50800" rIns="50800"/>
            <a:lstStyle/>
            <a:p>
              <a:pPr algn="ctr" marL="0" indent="0" lvl="0">
                <a:lnSpc>
                  <a:spcPts val="2048"/>
                </a:lnSpc>
                <a:spcBef>
                  <a:spcPct val="0"/>
                </a:spcBef>
              </a:pPr>
            </a:p>
          </p:txBody>
        </p:sp>
      </p:grpSp>
      <p:sp>
        <p:nvSpPr>
          <p:cNvPr name="TextBox 8" id="8"/>
          <p:cNvSpPr txBox="true"/>
          <p:nvPr/>
        </p:nvSpPr>
        <p:spPr>
          <a:xfrm rot="0">
            <a:off x="10790443" y="4274484"/>
            <a:ext cx="3479234" cy="665480"/>
          </a:xfrm>
          <a:prstGeom prst="rect">
            <a:avLst/>
          </a:prstGeom>
        </p:spPr>
        <p:txBody>
          <a:bodyPr anchor="t" rtlCol="false" tIns="0" lIns="0" bIns="0" rIns="0">
            <a:spAutoFit/>
          </a:bodyPr>
          <a:lstStyle/>
          <a:p>
            <a:pPr algn="ctr" rtl="true" marL="0" indent="0" lvl="0">
              <a:lnSpc>
                <a:spcPts val="5320"/>
              </a:lnSpc>
              <a:spcBef>
                <a:spcPct val="0"/>
              </a:spcBef>
            </a:pPr>
            <a:r>
              <a:rPr lang="en-US" b="true" sz="3800" strike="noStrike" u="none">
                <a:solidFill>
                  <a:srgbClr val="FFFFFF"/>
                </a:solidFill>
                <a:latin typeface="Arimo Bold"/>
                <a:ea typeface="Arimo Bold"/>
                <a:cs typeface="Arimo Bold"/>
                <a:sym typeface="Arimo Bold"/>
              </a:rPr>
              <a:t>OUTPUT</a:t>
            </a:r>
          </a:p>
        </p:txBody>
      </p:sp>
      <p:grpSp>
        <p:nvGrpSpPr>
          <p:cNvPr name="Group 9" id="9"/>
          <p:cNvGrpSpPr/>
          <p:nvPr/>
        </p:nvGrpSpPr>
        <p:grpSpPr>
          <a:xfrm rot="-5400000">
            <a:off x="7873318" y="5908100"/>
            <a:ext cx="569290" cy="388258"/>
            <a:chOff x="0" y="0"/>
            <a:chExt cx="2771140" cy="1889930"/>
          </a:xfrm>
        </p:grpSpPr>
        <p:sp>
          <p:nvSpPr>
            <p:cNvPr name="Freeform 10" id="10"/>
            <p:cNvSpPr/>
            <p:nvPr/>
          </p:nvSpPr>
          <p:spPr>
            <a:xfrm flipH="false" flipV="false" rot="0">
              <a:off x="0" y="0"/>
              <a:ext cx="2771140" cy="1889930"/>
            </a:xfrm>
            <a:custGeom>
              <a:avLst/>
              <a:gdLst/>
              <a:ahLst/>
              <a:cxnLst/>
              <a:rect r="r" b="b" t="t" l="l"/>
              <a:pathLst>
                <a:path h="1889930" w="2771140">
                  <a:moveTo>
                    <a:pt x="0" y="0"/>
                  </a:moveTo>
                  <a:lnTo>
                    <a:pt x="0" y="986960"/>
                  </a:lnTo>
                  <a:lnTo>
                    <a:pt x="1384300" y="1889930"/>
                  </a:lnTo>
                  <a:lnTo>
                    <a:pt x="2771140" y="986960"/>
                  </a:lnTo>
                  <a:lnTo>
                    <a:pt x="2771140" y="0"/>
                  </a:lnTo>
                  <a:close/>
                </a:path>
              </a:pathLst>
            </a:custGeom>
            <a:solidFill>
              <a:srgbClr val="F1F2F2"/>
            </a:solidFill>
          </p:spPr>
        </p:sp>
      </p:grpSp>
      <p:grpSp>
        <p:nvGrpSpPr>
          <p:cNvPr name="Group 11" id="11"/>
          <p:cNvGrpSpPr/>
          <p:nvPr/>
        </p:nvGrpSpPr>
        <p:grpSpPr>
          <a:xfrm rot="0">
            <a:off x="1884195" y="5193824"/>
            <a:ext cx="5507491" cy="2099958"/>
            <a:chOff x="0" y="0"/>
            <a:chExt cx="2073034" cy="790430"/>
          </a:xfrm>
        </p:grpSpPr>
        <p:sp>
          <p:nvSpPr>
            <p:cNvPr name="Freeform 12" id="12"/>
            <p:cNvSpPr/>
            <p:nvPr/>
          </p:nvSpPr>
          <p:spPr>
            <a:xfrm flipH="false" flipV="false" rot="0">
              <a:off x="0" y="0"/>
              <a:ext cx="2073034" cy="790430"/>
            </a:xfrm>
            <a:custGeom>
              <a:avLst/>
              <a:gdLst/>
              <a:ahLst/>
              <a:cxnLst/>
              <a:rect r="r" b="b" t="t" l="l"/>
              <a:pathLst>
                <a:path h="790430" w="2073034">
                  <a:moveTo>
                    <a:pt x="29520" y="0"/>
                  </a:moveTo>
                  <a:lnTo>
                    <a:pt x="2043514" y="0"/>
                  </a:lnTo>
                  <a:cubicBezTo>
                    <a:pt x="2051343" y="0"/>
                    <a:pt x="2058852" y="3110"/>
                    <a:pt x="2064388" y="8646"/>
                  </a:cubicBezTo>
                  <a:cubicBezTo>
                    <a:pt x="2069924" y="14182"/>
                    <a:pt x="2073034" y="21691"/>
                    <a:pt x="2073034" y="29520"/>
                  </a:cubicBezTo>
                  <a:lnTo>
                    <a:pt x="2073034" y="760910"/>
                  </a:lnTo>
                  <a:cubicBezTo>
                    <a:pt x="2073034" y="777213"/>
                    <a:pt x="2059818" y="790430"/>
                    <a:pt x="2043514" y="790430"/>
                  </a:cubicBezTo>
                  <a:lnTo>
                    <a:pt x="29520" y="790430"/>
                  </a:lnTo>
                  <a:cubicBezTo>
                    <a:pt x="13216" y="790430"/>
                    <a:pt x="0" y="777213"/>
                    <a:pt x="0" y="760910"/>
                  </a:cubicBezTo>
                  <a:lnTo>
                    <a:pt x="0" y="29520"/>
                  </a:lnTo>
                  <a:cubicBezTo>
                    <a:pt x="0" y="13216"/>
                    <a:pt x="13216" y="0"/>
                    <a:pt x="29520" y="0"/>
                  </a:cubicBezTo>
                  <a:close/>
                </a:path>
              </a:pathLst>
            </a:custGeom>
            <a:solidFill>
              <a:srgbClr val="131B1F">
                <a:alpha val="81961"/>
              </a:srgbClr>
            </a:solidFill>
            <a:ln w="19050" cap="rnd">
              <a:solidFill>
                <a:srgbClr val="FFFFFF">
                  <a:alpha val="81961"/>
                </a:srgbClr>
              </a:solidFill>
              <a:prstDash val="solid"/>
              <a:round/>
            </a:ln>
          </p:spPr>
        </p:sp>
        <p:sp>
          <p:nvSpPr>
            <p:cNvPr name="TextBox 13" id="13"/>
            <p:cNvSpPr txBox="true"/>
            <p:nvPr/>
          </p:nvSpPr>
          <p:spPr>
            <a:xfrm>
              <a:off x="0" y="76200"/>
              <a:ext cx="2073034" cy="714230"/>
            </a:xfrm>
            <a:prstGeom prst="rect">
              <a:avLst/>
            </a:prstGeom>
          </p:spPr>
          <p:txBody>
            <a:bodyPr anchor="ctr" rtlCol="false" tIns="50800" lIns="50800" bIns="50800" rIns="50800"/>
            <a:lstStyle/>
            <a:p>
              <a:pPr algn="ctr" marL="0" indent="0" lvl="0">
                <a:lnSpc>
                  <a:spcPts val="2048"/>
                </a:lnSpc>
                <a:spcBef>
                  <a:spcPct val="0"/>
                </a:spcBef>
              </a:pPr>
            </a:p>
          </p:txBody>
        </p:sp>
      </p:grpSp>
      <p:sp>
        <p:nvSpPr>
          <p:cNvPr name="TextBox 14" id="14"/>
          <p:cNvSpPr txBox="true"/>
          <p:nvPr/>
        </p:nvSpPr>
        <p:spPr>
          <a:xfrm rot="0">
            <a:off x="1816331" y="2073574"/>
            <a:ext cx="14553530" cy="1810385"/>
          </a:xfrm>
          <a:prstGeom prst="rect">
            <a:avLst/>
          </a:prstGeom>
        </p:spPr>
        <p:txBody>
          <a:bodyPr anchor="t" rtlCol="false" tIns="0" lIns="0" bIns="0" rIns="0">
            <a:spAutoFit/>
          </a:bodyPr>
          <a:lstStyle/>
          <a:p>
            <a:pPr algn="ctr">
              <a:lnSpc>
                <a:spcPts val="3640"/>
              </a:lnSpc>
            </a:pPr>
            <a:r>
              <a:rPr lang="en-US" sz="2600">
                <a:solidFill>
                  <a:srgbClr val="FFD166"/>
                </a:solidFill>
                <a:latin typeface="Alef"/>
                <a:ea typeface="Alef"/>
                <a:cs typeface="Alef"/>
                <a:sym typeface="Alef"/>
              </a:rPr>
              <a:t>M</a:t>
            </a:r>
            <a:r>
              <a:rPr lang="en-US" sz="2600">
                <a:solidFill>
                  <a:srgbClr val="FFD166"/>
                </a:solidFill>
                <a:latin typeface="Alef"/>
                <a:ea typeface="Alef"/>
                <a:cs typeface="Alef"/>
                <a:sym typeface="Alef"/>
              </a:rPr>
              <a:t>aritime</a:t>
            </a:r>
            <a:r>
              <a:rPr lang="en-US" sz="2600">
                <a:solidFill>
                  <a:srgbClr val="FFD166"/>
                </a:solidFill>
                <a:latin typeface="Alef"/>
                <a:ea typeface="Alef"/>
                <a:cs typeface="Alef"/>
                <a:sym typeface="Alef"/>
              </a:rPr>
              <a:t> radio calls are made under extreme conditions storms, engine noise, and panic causing critical words like 'MAYDAY' to become unrecognizable in speech recognition. Furthermore, no labeled dataset of maritime radio transcriptions exists, making it impossible to train models on real-world data.</a:t>
            </a:r>
          </a:p>
        </p:txBody>
      </p:sp>
      <p:sp>
        <p:nvSpPr>
          <p:cNvPr name="TextBox 15" id="15"/>
          <p:cNvSpPr txBox="true"/>
          <p:nvPr/>
        </p:nvSpPr>
        <p:spPr>
          <a:xfrm rot="0">
            <a:off x="2041924" y="5382432"/>
            <a:ext cx="5200995" cy="895985"/>
          </a:xfrm>
          <a:prstGeom prst="rect">
            <a:avLst/>
          </a:prstGeom>
        </p:spPr>
        <p:txBody>
          <a:bodyPr anchor="t" rtlCol="false" tIns="0" lIns="0" bIns="0" rIns="0">
            <a:spAutoFit/>
          </a:bodyPr>
          <a:lstStyle/>
          <a:p>
            <a:pPr algn="ctr">
              <a:lnSpc>
                <a:spcPts val="3640"/>
              </a:lnSpc>
              <a:spcBef>
                <a:spcPct val="0"/>
              </a:spcBef>
            </a:pPr>
            <a:r>
              <a:rPr lang="en-US" sz="2600">
                <a:solidFill>
                  <a:srgbClr val="FFFFFF"/>
                </a:solidFill>
                <a:latin typeface="Alef Bold"/>
                <a:ea typeface="Alef Bold"/>
                <a:cs typeface="Alef Bold"/>
                <a:sym typeface="Alef Bold"/>
              </a:rPr>
              <a:t>Noisy ASR </a:t>
            </a:r>
            <a:r>
              <a:rPr lang="en-US" sz="2600">
                <a:solidFill>
                  <a:srgbClr val="FFFFFF"/>
                </a:solidFill>
                <a:latin typeface="Alef"/>
                <a:ea typeface="Alef"/>
                <a:cs typeface="Alef"/>
                <a:sym typeface="Alef"/>
              </a:rPr>
              <a:t>transcript</a:t>
            </a:r>
            <a:r>
              <a:rPr lang="en-US" sz="2600">
                <a:solidFill>
                  <a:srgbClr val="FFFFFF"/>
                </a:solidFill>
                <a:latin typeface="Alef Bold"/>
                <a:ea typeface="Alef Bold"/>
                <a:cs typeface="Alef Bold"/>
                <a:sym typeface="Alef Bold"/>
              </a:rPr>
              <a:t> of a maritime radio communication</a:t>
            </a:r>
          </a:p>
        </p:txBody>
      </p:sp>
      <p:sp>
        <p:nvSpPr>
          <p:cNvPr name="TextBox 16" id="16"/>
          <p:cNvSpPr txBox="true"/>
          <p:nvPr/>
        </p:nvSpPr>
        <p:spPr>
          <a:xfrm rot="0">
            <a:off x="1913839" y="6420630"/>
            <a:ext cx="5413999" cy="692150"/>
          </a:xfrm>
          <a:prstGeom prst="rect">
            <a:avLst/>
          </a:prstGeom>
        </p:spPr>
        <p:txBody>
          <a:bodyPr anchor="t" rtlCol="false" tIns="0" lIns="0" bIns="0" rIns="0">
            <a:spAutoFit/>
          </a:bodyPr>
          <a:lstStyle/>
          <a:p>
            <a:pPr algn="ctr" marL="0" indent="0" lvl="0">
              <a:lnSpc>
                <a:spcPts val="2800"/>
              </a:lnSpc>
              <a:spcBef>
                <a:spcPct val="0"/>
              </a:spcBef>
            </a:pPr>
            <a:r>
              <a:rPr lang="en-US" sz="2000" strike="noStrike" u="none">
                <a:solidFill>
                  <a:srgbClr val="FFFFFF"/>
                </a:solidFill>
                <a:latin typeface="Alef Bold"/>
                <a:ea typeface="Alef Bold"/>
                <a:cs typeface="Alef Bold"/>
                <a:sym typeface="Alef Bold"/>
              </a:rPr>
              <a:t>Simulated VHF: Distress | Urgency | Safety Messages</a:t>
            </a:r>
          </a:p>
        </p:txBody>
      </p:sp>
      <p:sp>
        <p:nvSpPr>
          <p:cNvPr name="TextBox 17" id="17"/>
          <p:cNvSpPr txBox="true"/>
          <p:nvPr/>
        </p:nvSpPr>
        <p:spPr>
          <a:xfrm rot="0">
            <a:off x="9330593" y="5262191"/>
            <a:ext cx="7073211" cy="438785"/>
          </a:xfrm>
          <a:prstGeom prst="rect">
            <a:avLst/>
          </a:prstGeom>
        </p:spPr>
        <p:txBody>
          <a:bodyPr anchor="t" rtlCol="false" tIns="0" lIns="0" bIns="0" rIns="0">
            <a:spAutoFit/>
          </a:bodyPr>
          <a:lstStyle/>
          <a:p>
            <a:pPr algn="l">
              <a:lnSpc>
                <a:spcPts val="3640"/>
              </a:lnSpc>
              <a:spcBef>
                <a:spcPct val="0"/>
              </a:spcBef>
            </a:pPr>
            <a:r>
              <a:rPr lang="en-US" sz="2600">
                <a:solidFill>
                  <a:srgbClr val="FFFFFF"/>
                </a:solidFill>
                <a:latin typeface="Alef Bold"/>
                <a:ea typeface="Alef Bold"/>
                <a:cs typeface="Alef Bold"/>
                <a:sym typeface="Alef Bold"/>
              </a:rPr>
              <a:t>Cl</a:t>
            </a:r>
            <a:r>
              <a:rPr lang="en-US" sz="2600">
                <a:solidFill>
                  <a:srgbClr val="FFFFFF"/>
                </a:solidFill>
                <a:latin typeface="Alef Bold"/>
                <a:ea typeface="Alef Bold"/>
                <a:cs typeface="Alef Bold"/>
                <a:sym typeface="Alef Bold"/>
              </a:rPr>
              <a:t>assification: One of four severity levels </a:t>
            </a:r>
          </a:p>
        </p:txBody>
      </p:sp>
      <p:sp>
        <p:nvSpPr>
          <p:cNvPr name="TextBox 18" id="18"/>
          <p:cNvSpPr txBox="true"/>
          <p:nvPr/>
        </p:nvSpPr>
        <p:spPr>
          <a:xfrm rot="0">
            <a:off x="9305044" y="6347362"/>
            <a:ext cx="7073211" cy="438785"/>
          </a:xfrm>
          <a:prstGeom prst="rect">
            <a:avLst/>
          </a:prstGeom>
        </p:spPr>
        <p:txBody>
          <a:bodyPr anchor="t" rtlCol="false" tIns="0" lIns="0" bIns="0" rIns="0">
            <a:spAutoFit/>
          </a:bodyPr>
          <a:lstStyle/>
          <a:p>
            <a:pPr algn="l">
              <a:lnSpc>
                <a:spcPts val="3640"/>
              </a:lnSpc>
              <a:spcBef>
                <a:spcPct val="0"/>
              </a:spcBef>
            </a:pPr>
            <a:r>
              <a:rPr lang="en-US" sz="2600">
                <a:solidFill>
                  <a:srgbClr val="FFFFFF"/>
                </a:solidFill>
                <a:latin typeface="Alef Bold"/>
                <a:ea typeface="Alef Bold"/>
                <a:cs typeface="Alef Bold"/>
                <a:sym typeface="Alef Bold"/>
              </a:rPr>
              <a:t>Inform</a:t>
            </a:r>
            <a:r>
              <a:rPr lang="en-US" sz="2600">
                <a:solidFill>
                  <a:srgbClr val="FFFFFF"/>
                </a:solidFill>
                <a:latin typeface="Alef Bold"/>
                <a:ea typeface="Alef Bold"/>
                <a:cs typeface="Alef Bold"/>
                <a:sym typeface="Alef Bold"/>
              </a:rPr>
              <a:t>ation Extraction: Structured fields</a:t>
            </a:r>
          </a:p>
        </p:txBody>
      </p:sp>
      <p:sp>
        <p:nvSpPr>
          <p:cNvPr name="TextBox 19" id="19"/>
          <p:cNvSpPr txBox="true"/>
          <p:nvPr/>
        </p:nvSpPr>
        <p:spPr>
          <a:xfrm rot="0">
            <a:off x="9296650" y="5818407"/>
            <a:ext cx="7073211" cy="339725"/>
          </a:xfrm>
          <a:prstGeom prst="rect">
            <a:avLst/>
          </a:prstGeom>
        </p:spPr>
        <p:txBody>
          <a:bodyPr anchor="t" rtlCol="false" tIns="0" lIns="0" bIns="0" rIns="0">
            <a:spAutoFit/>
          </a:bodyPr>
          <a:lstStyle/>
          <a:p>
            <a:pPr algn="ctr" marL="0" indent="0" lvl="0">
              <a:lnSpc>
                <a:spcPts val="2800"/>
              </a:lnSpc>
              <a:spcBef>
                <a:spcPct val="0"/>
              </a:spcBef>
            </a:pPr>
            <a:r>
              <a:rPr lang="en-US" sz="2000" strike="noStrike" u="none">
                <a:solidFill>
                  <a:srgbClr val="FFFFFF"/>
                </a:solidFill>
                <a:latin typeface="Alef Bold"/>
                <a:ea typeface="Alef Bold"/>
                <a:cs typeface="Alef Bold"/>
                <a:sym typeface="Alef Bold"/>
              </a:rPr>
              <a:t>Distress | Urgency | Safety | Routine</a:t>
            </a:r>
          </a:p>
        </p:txBody>
      </p:sp>
      <p:sp>
        <p:nvSpPr>
          <p:cNvPr name="TextBox 20" id="20"/>
          <p:cNvSpPr txBox="true"/>
          <p:nvPr/>
        </p:nvSpPr>
        <p:spPr>
          <a:xfrm rot="0">
            <a:off x="9296650" y="6895367"/>
            <a:ext cx="7073211" cy="692150"/>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Alef Bold"/>
                <a:ea typeface="Alef Bold"/>
                <a:cs typeface="Alef Bold"/>
                <a:sym typeface="Alef Bold"/>
              </a:rPr>
              <a:t>Locat</a:t>
            </a:r>
            <a:r>
              <a:rPr lang="en-US" sz="2000">
                <a:solidFill>
                  <a:srgbClr val="FFFFFF"/>
                </a:solidFill>
                <a:latin typeface="Alef Bold"/>
                <a:ea typeface="Alef Bold"/>
                <a:cs typeface="Alef Bold"/>
                <a:sym typeface="Alef Bold"/>
              </a:rPr>
              <a:t>ion | Vessel Name | Persons on Board | Nature of Incident | Call Sign / MMSI (optional)</a:t>
            </a:r>
          </a:p>
        </p:txBody>
      </p:sp>
      <p:sp>
        <p:nvSpPr>
          <p:cNvPr name="TextBox 21" id="21"/>
          <p:cNvSpPr txBox="true"/>
          <p:nvPr/>
        </p:nvSpPr>
        <p:spPr>
          <a:xfrm rot="0">
            <a:off x="2212675" y="8434801"/>
            <a:ext cx="12934131" cy="438785"/>
          </a:xfrm>
          <a:prstGeom prst="rect">
            <a:avLst/>
          </a:prstGeom>
        </p:spPr>
        <p:txBody>
          <a:bodyPr anchor="t" rtlCol="false" tIns="0" lIns="0" bIns="0" rIns="0">
            <a:spAutoFit/>
          </a:bodyPr>
          <a:lstStyle/>
          <a:p>
            <a:pPr algn="ctr" marL="0" indent="0" lvl="0">
              <a:lnSpc>
                <a:spcPts val="3640"/>
              </a:lnSpc>
              <a:spcBef>
                <a:spcPct val="0"/>
              </a:spcBef>
            </a:pPr>
            <a:r>
              <a:rPr lang="en-US" sz="2600" strike="noStrike" u="none">
                <a:solidFill>
                  <a:srgbClr val="FFFFFF"/>
                </a:solidFill>
                <a:latin typeface="Alef"/>
                <a:ea typeface="Alef"/>
                <a:cs typeface="Alef"/>
                <a:sym typeface="Alef"/>
              </a:rPr>
              <a:t>RoBERTa-&gt; fine-tuned on synthetic clean text maritime messages (GPT-4 generated)</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 t="0" r="-12" b="0"/>
            </a:stretch>
          </a:blipFill>
        </p:spPr>
      </p:sp>
      <p:sp>
        <p:nvSpPr>
          <p:cNvPr name="TextBox 3" id="3"/>
          <p:cNvSpPr txBox="true"/>
          <p:nvPr/>
        </p:nvSpPr>
        <p:spPr>
          <a:xfrm rot="0">
            <a:off x="2841857" y="428625"/>
            <a:ext cx="12913816" cy="1057275"/>
          </a:xfrm>
          <a:prstGeom prst="rect">
            <a:avLst/>
          </a:prstGeom>
        </p:spPr>
        <p:txBody>
          <a:bodyPr anchor="t" rtlCol="false" tIns="0" lIns="0" bIns="0" rIns="0">
            <a:spAutoFit/>
          </a:bodyPr>
          <a:lstStyle/>
          <a:p>
            <a:pPr algn="ctr" rtl="true">
              <a:lnSpc>
                <a:spcPts val="8400"/>
              </a:lnSpc>
            </a:pPr>
            <a:r>
              <a:rPr lang="en-US" b="true" sz="6000">
                <a:solidFill>
                  <a:srgbClr val="FFFFFF"/>
                </a:solidFill>
                <a:latin typeface="Arimo Bold"/>
                <a:ea typeface="Arimo Bold"/>
                <a:cs typeface="Arimo Bold"/>
                <a:sym typeface="Arimo Bold"/>
              </a:rPr>
              <a:t>Review &amp; Refined Project</a:t>
            </a:r>
            <a:r>
              <a:rPr lang="en-US" b="true" sz="6000">
                <a:solidFill>
                  <a:srgbClr val="FFFFFF"/>
                </a:solidFill>
                <a:latin typeface="Arimo Bold"/>
                <a:ea typeface="Arimo Bold"/>
                <a:cs typeface="Arimo Bold"/>
                <a:sym typeface="Arimo Bold"/>
              </a:rPr>
              <a:t> Definition</a:t>
            </a:r>
          </a:p>
        </p:txBody>
      </p:sp>
      <p:sp>
        <p:nvSpPr>
          <p:cNvPr name="TextBox 4" id="4"/>
          <p:cNvSpPr txBox="true"/>
          <p:nvPr/>
        </p:nvSpPr>
        <p:spPr>
          <a:xfrm rot="0">
            <a:off x="1913004" y="1771964"/>
            <a:ext cx="1912117" cy="665480"/>
          </a:xfrm>
          <a:prstGeom prst="rect">
            <a:avLst/>
          </a:prstGeom>
        </p:spPr>
        <p:txBody>
          <a:bodyPr anchor="t" rtlCol="false" tIns="0" lIns="0" bIns="0" rIns="0">
            <a:spAutoFit/>
          </a:bodyPr>
          <a:lstStyle/>
          <a:p>
            <a:pPr algn="ctr" rtl="true" marL="0" indent="0" lvl="0">
              <a:lnSpc>
                <a:spcPts val="5320"/>
              </a:lnSpc>
              <a:spcBef>
                <a:spcPct val="0"/>
              </a:spcBef>
            </a:pPr>
            <a:r>
              <a:rPr lang="en-US" b="true" sz="3800" strike="noStrike" u="none">
                <a:solidFill>
                  <a:srgbClr val="F8F6F7"/>
                </a:solidFill>
                <a:latin typeface="Arimo Bold"/>
                <a:ea typeface="Arimo Bold"/>
                <a:cs typeface="Arimo Bold"/>
                <a:sym typeface="Arimo Bold"/>
              </a:rPr>
              <a:t>DATA</a:t>
            </a:r>
          </a:p>
        </p:txBody>
      </p:sp>
      <p:sp>
        <p:nvSpPr>
          <p:cNvPr name="TextBox 5" id="5"/>
          <p:cNvSpPr txBox="true"/>
          <p:nvPr/>
        </p:nvSpPr>
        <p:spPr>
          <a:xfrm rot="0">
            <a:off x="1913004" y="4717798"/>
            <a:ext cx="3673483" cy="665480"/>
          </a:xfrm>
          <a:prstGeom prst="rect">
            <a:avLst/>
          </a:prstGeom>
        </p:spPr>
        <p:txBody>
          <a:bodyPr anchor="t" rtlCol="false" tIns="0" lIns="0" bIns="0" rIns="0">
            <a:spAutoFit/>
          </a:bodyPr>
          <a:lstStyle/>
          <a:p>
            <a:pPr algn="l" rtl="true" marL="0" indent="0" lvl="0">
              <a:lnSpc>
                <a:spcPts val="5320"/>
              </a:lnSpc>
              <a:spcBef>
                <a:spcPct val="0"/>
              </a:spcBef>
            </a:pPr>
            <a:r>
              <a:rPr lang="en-US" b="true" sz="3800" strike="noStrike" u="none">
                <a:solidFill>
                  <a:srgbClr val="F8F6F7"/>
                </a:solidFill>
                <a:latin typeface="Arimo Bold"/>
                <a:ea typeface="Arimo Bold"/>
                <a:cs typeface="Arimo Bold"/>
                <a:sym typeface="Arimo Bold"/>
              </a:rPr>
              <a:t>MODELS</a:t>
            </a:r>
          </a:p>
        </p:txBody>
      </p:sp>
      <p:sp>
        <p:nvSpPr>
          <p:cNvPr name="TextBox 6" id="6"/>
          <p:cNvSpPr txBox="true"/>
          <p:nvPr/>
        </p:nvSpPr>
        <p:spPr>
          <a:xfrm rot="0">
            <a:off x="2196383" y="7273108"/>
            <a:ext cx="6553300" cy="665480"/>
          </a:xfrm>
          <a:prstGeom prst="rect">
            <a:avLst/>
          </a:prstGeom>
        </p:spPr>
        <p:txBody>
          <a:bodyPr anchor="t" rtlCol="false" tIns="0" lIns="0" bIns="0" rIns="0">
            <a:spAutoFit/>
          </a:bodyPr>
          <a:lstStyle/>
          <a:p>
            <a:pPr algn="l" rtl="true" marL="0" indent="0" lvl="0">
              <a:lnSpc>
                <a:spcPts val="5320"/>
              </a:lnSpc>
              <a:spcBef>
                <a:spcPct val="0"/>
              </a:spcBef>
            </a:pPr>
            <a:r>
              <a:rPr lang="en-US" b="true" sz="3800" strike="noStrike" u="none">
                <a:solidFill>
                  <a:srgbClr val="F8F6F7"/>
                </a:solidFill>
                <a:latin typeface="Arimo Bold"/>
                <a:ea typeface="Arimo Bold"/>
                <a:cs typeface="Arimo Bold"/>
                <a:sym typeface="Arimo Bold"/>
              </a:rPr>
              <a:t>METRICS</a:t>
            </a:r>
          </a:p>
        </p:txBody>
      </p:sp>
      <p:sp>
        <p:nvSpPr>
          <p:cNvPr name="TextBox 7" id="7"/>
          <p:cNvSpPr txBox="true"/>
          <p:nvPr/>
        </p:nvSpPr>
        <p:spPr>
          <a:xfrm rot="0">
            <a:off x="1913004" y="2464878"/>
            <a:ext cx="7948989" cy="1934845"/>
          </a:xfrm>
          <a:prstGeom prst="rect">
            <a:avLst/>
          </a:prstGeom>
        </p:spPr>
        <p:txBody>
          <a:bodyPr anchor="t" rtlCol="false" tIns="0" lIns="0" bIns="0" rIns="0">
            <a:spAutoFit/>
          </a:bodyPr>
          <a:lstStyle/>
          <a:p>
            <a:pPr algn="l" marL="474979" indent="-237490" lvl="1">
              <a:lnSpc>
                <a:spcPts val="3079"/>
              </a:lnSpc>
              <a:buFont typeface="Arial"/>
              <a:buChar char="•"/>
            </a:pPr>
            <a:r>
              <a:rPr lang="en-US" sz="2199" u="sng">
                <a:solidFill>
                  <a:srgbClr val="FDFDFD"/>
                </a:solidFill>
                <a:latin typeface="Alef Bold"/>
                <a:ea typeface="Alef Bold"/>
                <a:cs typeface="Alef Bold"/>
                <a:sym typeface="Alef Bold"/>
              </a:rPr>
              <a:t>1,872</a:t>
            </a:r>
            <a:r>
              <a:rPr lang="en-US" sz="2199" u="sng">
                <a:solidFill>
                  <a:srgbClr val="FDFDFD"/>
                </a:solidFill>
                <a:latin typeface="Alef Bold"/>
                <a:ea typeface="Alef Bold"/>
                <a:cs typeface="Alef Bold"/>
                <a:sym typeface="Alef Bold"/>
              </a:rPr>
              <a:t> </a:t>
            </a:r>
            <a:r>
              <a:rPr lang="en-US" sz="2199">
                <a:solidFill>
                  <a:srgbClr val="FDFDFD"/>
                </a:solidFill>
                <a:latin typeface="Alef Bold"/>
                <a:ea typeface="Alef Bold"/>
                <a:cs typeface="Alef Bold"/>
                <a:sym typeface="Alef Bold"/>
              </a:rPr>
              <a:t>GPT-4</a:t>
            </a:r>
            <a:r>
              <a:rPr lang="en-US" sz="2199">
                <a:solidFill>
                  <a:srgbClr val="FDFDFD"/>
                </a:solidFill>
                <a:latin typeface="Alef Bold"/>
                <a:ea typeface="Alef Bold"/>
                <a:cs typeface="Alef Bold"/>
                <a:sym typeface="Alef Bold"/>
              </a:rPr>
              <a:t> synthetic maritime messages (468 per class)</a:t>
            </a:r>
          </a:p>
          <a:p>
            <a:pPr algn="l" marL="474979" indent="-237490" lvl="1">
              <a:lnSpc>
                <a:spcPts val="3079"/>
              </a:lnSpc>
              <a:buFont typeface="Arial"/>
              <a:buChar char="•"/>
            </a:pPr>
            <a:r>
              <a:rPr lang="en-US" sz="2199">
                <a:solidFill>
                  <a:srgbClr val="FDFDFD"/>
                </a:solidFill>
                <a:latin typeface="Alef Bold"/>
                <a:ea typeface="Alef Bold"/>
                <a:cs typeface="Alef Bold"/>
                <a:sym typeface="Alef Bold"/>
              </a:rPr>
              <a:t>Clean | ASR text (SNR: 18 | 12 | 6 dB)</a:t>
            </a:r>
          </a:p>
          <a:p>
            <a:pPr algn="l" marL="474979" indent="-237490" lvl="1">
              <a:lnSpc>
                <a:spcPts val="3079"/>
              </a:lnSpc>
              <a:buFont typeface="Arial"/>
              <a:buChar char="•"/>
            </a:pPr>
            <a:r>
              <a:rPr lang="en-US" sz="2199">
                <a:solidFill>
                  <a:srgbClr val="FDFDFD"/>
                </a:solidFill>
                <a:latin typeface="Alef Bold"/>
                <a:ea typeface="Alef Bold"/>
                <a:cs typeface="Alef Bold"/>
                <a:sym typeface="Alef Bold"/>
              </a:rPr>
              <a:t>With | without codewords</a:t>
            </a:r>
          </a:p>
          <a:p>
            <a:pPr algn="l" marL="474979" indent="-237490" lvl="1">
              <a:lnSpc>
                <a:spcPts val="3079"/>
              </a:lnSpc>
              <a:buFont typeface="Arial"/>
              <a:buChar char="•"/>
            </a:pPr>
            <a:r>
              <a:rPr lang="en-US" sz="2199">
                <a:solidFill>
                  <a:srgbClr val="FDFDFD"/>
                </a:solidFill>
                <a:latin typeface="Alef Bold"/>
                <a:ea typeface="Alef Bold"/>
                <a:cs typeface="Alef Bold"/>
                <a:sym typeface="Alef Bold"/>
              </a:rPr>
              <a:t>Audio (TTS) + Whisper ASR</a:t>
            </a:r>
          </a:p>
          <a:p>
            <a:pPr algn="l" marL="474979" indent="-237490" lvl="1">
              <a:lnSpc>
                <a:spcPts val="3079"/>
              </a:lnSpc>
              <a:buFont typeface="Arial"/>
              <a:buChar char="•"/>
            </a:pPr>
            <a:r>
              <a:rPr lang="en-US" sz="2199">
                <a:solidFill>
                  <a:srgbClr val="FDFDFD"/>
                </a:solidFill>
                <a:latin typeface="Alef Bold"/>
                <a:ea typeface="Alef Bold"/>
                <a:cs typeface="Alef Bold"/>
                <a:sym typeface="Alef Bold"/>
              </a:rPr>
              <a:t>Multiple styles &amp; scenarios</a:t>
            </a:r>
          </a:p>
        </p:txBody>
      </p:sp>
      <p:sp>
        <p:nvSpPr>
          <p:cNvPr name="TextBox 8" id="8"/>
          <p:cNvSpPr txBox="true"/>
          <p:nvPr/>
        </p:nvSpPr>
        <p:spPr>
          <a:xfrm rot="0">
            <a:off x="1913004" y="5410713"/>
            <a:ext cx="11723197" cy="1544320"/>
          </a:xfrm>
          <a:prstGeom prst="rect">
            <a:avLst/>
          </a:prstGeom>
        </p:spPr>
        <p:txBody>
          <a:bodyPr anchor="t" rtlCol="false" tIns="0" lIns="0" bIns="0" rIns="0">
            <a:spAutoFit/>
          </a:bodyPr>
          <a:lstStyle/>
          <a:p>
            <a:pPr algn="l" marL="474979" indent="-237490" lvl="1">
              <a:lnSpc>
                <a:spcPts val="3079"/>
              </a:lnSpc>
              <a:spcBef>
                <a:spcPct val="0"/>
              </a:spcBef>
              <a:buFont typeface="Arial"/>
              <a:buChar char="•"/>
            </a:pPr>
            <a:r>
              <a:rPr lang="en-US" sz="2199" strike="noStrike">
                <a:solidFill>
                  <a:srgbClr val="FDFDFD"/>
                </a:solidFill>
                <a:latin typeface="Alef Bold"/>
                <a:ea typeface="Alef Bold"/>
                <a:cs typeface="Alef Bold"/>
                <a:sym typeface="Alef Bold"/>
              </a:rPr>
              <a:t>Transformers: </a:t>
            </a:r>
            <a:r>
              <a:rPr lang="en-US" sz="2199" strike="noStrike">
                <a:solidFill>
                  <a:srgbClr val="FDFDFD"/>
                </a:solidFill>
                <a:latin typeface="Alef"/>
                <a:ea typeface="Alef"/>
                <a:cs typeface="Alef"/>
                <a:sym typeface="Alef"/>
              </a:rPr>
              <a:t>RoBERTa</a:t>
            </a:r>
            <a:r>
              <a:rPr lang="en-US" sz="2199" strike="noStrike">
                <a:solidFill>
                  <a:srgbClr val="FDFDFD"/>
                </a:solidFill>
                <a:latin typeface="Alef Bold"/>
                <a:ea typeface="Alef Bold"/>
                <a:cs typeface="Alef Bold"/>
                <a:sym typeface="Alef Bold"/>
              </a:rPr>
              <a:t> (selected) | DistilBERT</a:t>
            </a:r>
          </a:p>
          <a:p>
            <a:pPr algn="l" marL="474979" indent="-237490" lvl="1">
              <a:lnSpc>
                <a:spcPts val="3079"/>
              </a:lnSpc>
              <a:spcBef>
                <a:spcPct val="0"/>
              </a:spcBef>
              <a:buFont typeface="Arial"/>
              <a:buChar char="•"/>
            </a:pPr>
            <a:r>
              <a:rPr lang="en-US" sz="2199" strike="noStrike">
                <a:solidFill>
                  <a:srgbClr val="FDFDFD"/>
                </a:solidFill>
                <a:latin typeface="Alef Bold"/>
                <a:ea typeface="Alef Bold"/>
                <a:cs typeface="Alef Bold"/>
                <a:sym typeface="Alef Bold"/>
              </a:rPr>
              <a:t>Baselines:  TF-IDF (</a:t>
            </a:r>
            <a:r>
              <a:rPr lang="en-US" sz="2199" strike="noStrike">
                <a:solidFill>
                  <a:srgbClr val="FDFDFD"/>
                </a:solidFill>
                <a:latin typeface="Alef Bold"/>
                <a:ea typeface="Alef Bold"/>
                <a:cs typeface="Alef Bold"/>
                <a:sym typeface="Alef Bold"/>
              </a:rPr>
              <a:t>BoW</a:t>
            </a:r>
            <a:r>
              <a:rPr lang="en-US" sz="2199" strike="noStrike">
                <a:solidFill>
                  <a:srgbClr val="FDFDFD"/>
                </a:solidFill>
                <a:latin typeface="Alef Bold"/>
                <a:ea typeface="Alef Bold"/>
                <a:cs typeface="Alef Bold"/>
                <a:sym typeface="Alef Bold"/>
              </a:rPr>
              <a:t>) </a:t>
            </a:r>
            <a:r>
              <a:rPr lang="en-US" sz="2199" strike="noStrike">
                <a:solidFill>
                  <a:srgbClr val="FDFDFD"/>
                </a:solidFill>
                <a:latin typeface="Alef Bold"/>
                <a:ea typeface="Alef Bold"/>
                <a:cs typeface="Alef Bold"/>
                <a:sym typeface="Alef Bold"/>
              </a:rPr>
              <a:t>+ Logistic Regression | Linear SVM | Naive Bayes</a:t>
            </a:r>
          </a:p>
          <a:p>
            <a:pPr algn="l" marL="474979" indent="-237490" lvl="1">
              <a:lnSpc>
                <a:spcPts val="3079"/>
              </a:lnSpc>
              <a:spcBef>
                <a:spcPct val="0"/>
              </a:spcBef>
              <a:buFont typeface="Arial"/>
              <a:buChar char="•"/>
            </a:pPr>
            <a:r>
              <a:rPr lang="en-US" sz="2199" strike="noStrike">
                <a:solidFill>
                  <a:srgbClr val="FDFDFD"/>
                </a:solidFill>
                <a:latin typeface="Alef Bold"/>
                <a:ea typeface="Alef Bold"/>
                <a:cs typeface="Alef Bold"/>
                <a:sym typeface="Alef Bold"/>
              </a:rPr>
              <a:t>Infrastructure: GPT-4 | Faster-Whisper | Coqui TTS</a:t>
            </a:r>
          </a:p>
          <a:p>
            <a:pPr algn="l" marL="474979" indent="-237490" lvl="1">
              <a:lnSpc>
                <a:spcPts val="3079"/>
              </a:lnSpc>
              <a:spcBef>
                <a:spcPct val="0"/>
              </a:spcBef>
              <a:buFont typeface="Arial"/>
              <a:buChar char="•"/>
            </a:pPr>
            <a:r>
              <a:rPr lang="en-US" sz="2199" strike="noStrike">
                <a:solidFill>
                  <a:srgbClr val="FFD166"/>
                </a:solidFill>
                <a:latin typeface="Alef Bold"/>
                <a:ea typeface="Alef Bold"/>
                <a:cs typeface="Alef Bold"/>
                <a:sym typeface="Alef Bold"/>
              </a:rPr>
              <a:t>RoBERTa-&gt; fine-tuned on synthetic clean text maritime messages (GPT-4 generated)</a:t>
            </a:r>
          </a:p>
        </p:txBody>
      </p:sp>
      <p:sp>
        <p:nvSpPr>
          <p:cNvPr name="TextBox 9" id="9"/>
          <p:cNvSpPr txBox="true"/>
          <p:nvPr/>
        </p:nvSpPr>
        <p:spPr>
          <a:xfrm rot="0">
            <a:off x="1913004" y="7966023"/>
            <a:ext cx="9927543" cy="763270"/>
          </a:xfrm>
          <a:prstGeom prst="rect">
            <a:avLst/>
          </a:prstGeom>
        </p:spPr>
        <p:txBody>
          <a:bodyPr anchor="t" rtlCol="false" tIns="0" lIns="0" bIns="0" rIns="0">
            <a:spAutoFit/>
          </a:bodyPr>
          <a:lstStyle/>
          <a:p>
            <a:pPr algn="l" marL="474979" indent="-237490" lvl="1">
              <a:lnSpc>
                <a:spcPts val="3079"/>
              </a:lnSpc>
              <a:spcBef>
                <a:spcPct val="0"/>
              </a:spcBef>
              <a:buFont typeface="Arial"/>
              <a:buChar char="•"/>
            </a:pPr>
            <a:r>
              <a:rPr lang="en-US" sz="2199">
                <a:solidFill>
                  <a:srgbClr val="FDFDFD"/>
                </a:solidFill>
                <a:latin typeface="Alef Bold"/>
                <a:ea typeface="Alef Bold"/>
                <a:cs typeface="Alef Bold"/>
                <a:sym typeface="Alef Bold"/>
              </a:rPr>
              <a:t>F1-score:</a:t>
            </a:r>
            <a:r>
              <a:rPr lang="en-US" sz="2199" strike="noStrike" u="none">
                <a:solidFill>
                  <a:srgbClr val="FDFDFD"/>
                </a:solidFill>
                <a:latin typeface="Alef Bold"/>
                <a:ea typeface="Alef Bold"/>
                <a:cs typeface="Alef Bold"/>
                <a:sym typeface="Alef Bold"/>
              </a:rPr>
              <a:t> </a:t>
            </a:r>
            <a:r>
              <a:rPr lang="en-US" sz="2199" strike="noStrike" u="none">
                <a:solidFill>
                  <a:srgbClr val="FDFDFD"/>
                </a:solidFill>
                <a:latin typeface="Alef Bold"/>
                <a:ea typeface="Alef Bold"/>
                <a:cs typeface="Alef Bold"/>
                <a:sym typeface="Alef Bold"/>
              </a:rPr>
              <a:t>primary</a:t>
            </a:r>
            <a:r>
              <a:rPr lang="en-US" sz="2199" strike="noStrike" u="none">
                <a:solidFill>
                  <a:srgbClr val="FDFDFD"/>
                </a:solidFill>
                <a:latin typeface="Alef Bold"/>
                <a:ea typeface="Alef Bold"/>
                <a:cs typeface="Alef Bold"/>
                <a:sym typeface="Alef Bold"/>
              </a:rPr>
              <a:t> </a:t>
            </a:r>
            <a:r>
              <a:rPr lang="en-US" sz="2199" strike="noStrike" u="none">
                <a:solidFill>
                  <a:srgbClr val="FDFDFD"/>
                </a:solidFill>
                <a:latin typeface="Alef Bold"/>
                <a:ea typeface="Alef Bold"/>
                <a:cs typeface="Alef Bold"/>
                <a:sym typeface="Alef Bold"/>
              </a:rPr>
              <a:t>cl</a:t>
            </a:r>
            <a:r>
              <a:rPr lang="en-US" sz="2199" strike="noStrike" u="none">
                <a:solidFill>
                  <a:srgbClr val="FDFDFD"/>
                </a:solidFill>
                <a:latin typeface="Alef Bold"/>
                <a:ea typeface="Alef Bold"/>
                <a:cs typeface="Alef Bold"/>
                <a:sym typeface="Alef Bold"/>
              </a:rPr>
              <a:t>as</a:t>
            </a:r>
            <a:r>
              <a:rPr lang="en-US" sz="2199" strike="noStrike" u="none">
                <a:solidFill>
                  <a:srgbClr val="FDFDFD"/>
                </a:solidFill>
                <a:latin typeface="Alef Bold"/>
                <a:ea typeface="Alef Bold"/>
                <a:cs typeface="Alef Bold"/>
                <a:sym typeface="Alef Bold"/>
              </a:rPr>
              <a:t>s</a:t>
            </a:r>
            <a:r>
              <a:rPr lang="en-US" sz="2199" strike="noStrike" u="none">
                <a:solidFill>
                  <a:srgbClr val="FDFDFD"/>
                </a:solidFill>
                <a:latin typeface="Alef Bold"/>
                <a:ea typeface="Alef Bold"/>
                <a:cs typeface="Alef Bold"/>
                <a:sym typeface="Alef Bold"/>
              </a:rPr>
              <a:t>ifi</a:t>
            </a:r>
            <a:r>
              <a:rPr lang="en-US" sz="2199" strike="noStrike" u="none">
                <a:solidFill>
                  <a:srgbClr val="FDFDFD"/>
                </a:solidFill>
                <a:latin typeface="Alef Bold"/>
                <a:ea typeface="Alef Bold"/>
                <a:cs typeface="Alef Bold"/>
                <a:sym typeface="Alef Bold"/>
              </a:rPr>
              <a:t>c</a:t>
            </a:r>
            <a:r>
              <a:rPr lang="en-US" sz="2199" strike="noStrike" u="none">
                <a:solidFill>
                  <a:srgbClr val="FDFDFD"/>
                </a:solidFill>
                <a:latin typeface="Alef Bold"/>
                <a:ea typeface="Alef Bold"/>
                <a:cs typeface="Alef Bold"/>
                <a:sym typeface="Alef Bold"/>
              </a:rPr>
              <a:t>a</a:t>
            </a:r>
            <a:r>
              <a:rPr lang="en-US" sz="2199" strike="noStrike" u="none">
                <a:solidFill>
                  <a:srgbClr val="FDFDFD"/>
                </a:solidFill>
                <a:latin typeface="Alef Bold"/>
                <a:ea typeface="Alef Bold"/>
                <a:cs typeface="Alef Bold"/>
                <a:sym typeface="Alef Bold"/>
              </a:rPr>
              <a:t>tion </a:t>
            </a:r>
            <a:r>
              <a:rPr lang="en-US" sz="2199" strike="noStrike" u="none">
                <a:solidFill>
                  <a:srgbClr val="FDFDFD"/>
                </a:solidFill>
                <a:latin typeface="Alef Bold"/>
                <a:ea typeface="Alef Bold"/>
                <a:cs typeface="Alef Bold"/>
                <a:sym typeface="Alef Bold"/>
              </a:rPr>
              <a:t>met</a:t>
            </a:r>
            <a:r>
              <a:rPr lang="en-US" sz="2199" strike="noStrike" u="none">
                <a:solidFill>
                  <a:srgbClr val="FDFDFD"/>
                </a:solidFill>
                <a:latin typeface="Alef Bold"/>
                <a:ea typeface="Alef Bold"/>
                <a:cs typeface="Alef Bold"/>
                <a:sym typeface="Alef Bold"/>
              </a:rPr>
              <a:t>r</a:t>
            </a:r>
            <a:r>
              <a:rPr lang="en-US" sz="2199" strike="noStrike" u="none">
                <a:solidFill>
                  <a:srgbClr val="FDFDFD"/>
                </a:solidFill>
                <a:latin typeface="Alef Bold"/>
                <a:ea typeface="Alef Bold"/>
                <a:cs typeface="Alef Bold"/>
                <a:sym typeface="Alef Bold"/>
              </a:rPr>
              <a:t>ic</a:t>
            </a:r>
          </a:p>
          <a:p>
            <a:pPr algn="l" marL="474979" indent="-237490" lvl="1">
              <a:lnSpc>
                <a:spcPts val="3079"/>
              </a:lnSpc>
              <a:spcBef>
                <a:spcPct val="0"/>
              </a:spcBef>
              <a:buFont typeface="Arial"/>
              <a:buChar char="•"/>
            </a:pPr>
            <a:r>
              <a:rPr lang="en-US" sz="2199" strike="noStrike" u="none">
                <a:solidFill>
                  <a:srgbClr val="FDFDFD"/>
                </a:solidFill>
                <a:latin typeface="Alef Bold"/>
                <a:ea typeface="Alef Bold"/>
                <a:cs typeface="Alef Bold"/>
                <a:sym typeface="Alef Bold"/>
              </a:rPr>
              <a:t>A</a:t>
            </a:r>
            <a:r>
              <a:rPr lang="en-US" sz="2199" strike="noStrike" u="none">
                <a:solidFill>
                  <a:srgbClr val="FDFDFD"/>
                </a:solidFill>
                <a:latin typeface="Alef Bold"/>
                <a:ea typeface="Alef Bold"/>
                <a:cs typeface="Alef Bold"/>
                <a:sym typeface="Alef Bold"/>
              </a:rPr>
              <a:t>ccuracy: se</a:t>
            </a:r>
            <a:r>
              <a:rPr lang="en-US" sz="2199" strike="noStrike" u="none">
                <a:solidFill>
                  <a:srgbClr val="FDFDFD"/>
                </a:solidFill>
                <a:latin typeface="Alef Bold"/>
                <a:ea typeface="Alef Bold"/>
                <a:cs typeface="Alef Bold"/>
                <a:sym typeface="Alef Bold"/>
              </a:rPr>
              <a:t>condary</a:t>
            </a:r>
            <a:r>
              <a:rPr lang="en-US" sz="2199" strike="noStrike" u="none">
                <a:solidFill>
                  <a:srgbClr val="FDFDFD"/>
                </a:solidFill>
                <a:latin typeface="Alef Bold"/>
                <a:ea typeface="Alef Bold"/>
                <a:cs typeface="Alef Bold"/>
                <a:sym typeface="Alef Bold"/>
              </a:rPr>
              <a:t> comparison met</a:t>
            </a:r>
            <a:r>
              <a:rPr lang="en-US" sz="2199" strike="noStrike" u="none">
                <a:solidFill>
                  <a:srgbClr val="FDFDFD"/>
                </a:solidFill>
                <a:latin typeface="Alef Bold"/>
                <a:ea typeface="Alef Bold"/>
                <a:cs typeface="Alef Bold"/>
                <a:sym typeface="Alef Bold"/>
              </a:rPr>
              <a:t>ric</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 t="0" r="-12" b="0"/>
            </a:stretch>
          </a:blipFill>
        </p:spPr>
      </p:sp>
      <p:sp>
        <p:nvSpPr>
          <p:cNvPr name="Freeform 3" id="3"/>
          <p:cNvSpPr/>
          <p:nvPr/>
        </p:nvSpPr>
        <p:spPr>
          <a:xfrm flipH="false" flipV="false" rot="0">
            <a:off x="1880108" y="6697986"/>
            <a:ext cx="1682955" cy="2268689"/>
          </a:xfrm>
          <a:custGeom>
            <a:avLst/>
            <a:gdLst/>
            <a:ahLst/>
            <a:cxnLst/>
            <a:rect r="r" b="b" t="t" l="l"/>
            <a:pathLst>
              <a:path h="2268689" w="1682955">
                <a:moveTo>
                  <a:pt x="0" y="0"/>
                </a:moveTo>
                <a:lnTo>
                  <a:pt x="1682955" y="0"/>
                </a:lnTo>
                <a:lnTo>
                  <a:pt x="1682955" y="2268689"/>
                </a:lnTo>
                <a:lnTo>
                  <a:pt x="0" y="22686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3003352" y="428625"/>
            <a:ext cx="12281297" cy="1057275"/>
          </a:xfrm>
          <a:prstGeom prst="rect">
            <a:avLst/>
          </a:prstGeom>
        </p:spPr>
        <p:txBody>
          <a:bodyPr anchor="t" rtlCol="false" tIns="0" lIns="0" bIns="0" rIns="0">
            <a:spAutoFit/>
          </a:bodyPr>
          <a:lstStyle/>
          <a:p>
            <a:pPr algn="ctr" rtl="true" marL="0" indent="0" lvl="0">
              <a:lnSpc>
                <a:spcPts val="8400"/>
              </a:lnSpc>
              <a:spcBef>
                <a:spcPct val="0"/>
              </a:spcBef>
            </a:pPr>
            <a:r>
              <a:rPr lang="en-US" b="true" sz="6000">
                <a:solidFill>
                  <a:srgbClr val="FFFFFF"/>
                </a:solidFill>
                <a:latin typeface="Arimo Bold"/>
                <a:ea typeface="Arimo Bold"/>
                <a:cs typeface="Arimo Bold"/>
                <a:sym typeface="Arimo Bold"/>
              </a:rPr>
              <a:t>P</a:t>
            </a:r>
            <a:r>
              <a:rPr lang="en-US" b="true" sz="6000" strike="noStrike" u="none">
                <a:solidFill>
                  <a:srgbClr val="FFFFFF"/>
                </a:solidFill>
                <a:latin typeface="Arimo Bold"/>
                <a:ea typeface="Arimo Bold"/>
                <a:cs typeface="Arimo Bold"/>
                <a:sym typeface="Arimo Bold"/>
              </a:rPr>
              <a:t>roject achievements and novelty</a:t>
            </a:r>
          </a:p>
        </p:txBody>
      </p:sp>
      <p:grpSp>
        <p:nvGrpSpPr>
          <p:cNvPr name="Group 5" id="5"/>
          <p:cNvGrpSpPr/>
          <p:nvPr/>
        </p:nvGrpSpPr>
        <p:grpSpPr>
          <a:xfrm rot="0">
            <a:off x="2296768" y="1894491"/>
            <a:ext cx="13563845" cy="4534266"/>
            <a:chOff x="0" y="0"/>
            <a:chExt cx="5105467" cy="1706710"/>
          </a:xfrm>
        </p:grpSpPr>
        <p:sp>
          <p:nvSpPr>
            <p:cNvPr name="Freeform 6" id="6"/>
            <p:cNvSpPr/>
            <p:nvPr/>
          </p:nvSpPr>
          <p:spPr>
            <a:xfrm flipH="false" flipV="false" rot="0">
              <a:off x="0" y="0"/>
              <a:ext cx="5105467" cy="1706710"/>
            </a:xfrm>
            <a:custGeom>
              <a:avLst/>
              <a:gdLst/>
              <a:ahLst/>
              <a:cxnLst/>
              <a:rect r="r" b="b" t="t" l="l"/>
              <a:pathLst>
                <a:path h="1706710" w="5105467">
                  <a:moveTo>
                    <a:pt x="29110" y="0"/>
                  </a:moveTo>
                  <a:lnTo>
                    <a:pt x="5076358" y="0"/>
                  </a:lnTo>
                  <a:cubicBezTo>
                    <a:pt x="5092434" y="0"/>
                    <a:pt x="5105467" y="13033"/>
                    <a:pt x="5105467" y="29110"/>
                  </a:cubicBezTo>
                  <a:lnTo>
                    <a:pt x="5105467" y="1677600"/>
                  </a:lnTo>
                  <a:cubicBezTo>
                    <a:pt x="5105467" y="1693677"/>
                    <a:pt x="5092434" y="1706710"/>
                    <a:pt x="5076358" y="1706710"/>
                  </a:cubicBezTo>
                  <a:lnTo>
                    <a:pt x="29110" y="1706710"/>
                  </a:lnTo>
                  <a:cubicBezTo>
                    <a:pt x="13033" y="1706710"/>
                    <a:pt x="0" y="1693677"/>
                    <a:pt x="0" y="1677600"/>
                  </a:cubicBezTo>
                  <a:lnTo>
                    <a:pt x="0" y="29110"/>
                  </a:lnTo>
                  <a:cubicBezTo>
                    <a:pt x="0" y="13033"/>
                    <a:pt x="13033" y="0"/>
                    <a:pt x="29110" y="0"/>
                  </a:cubicBezTo>
                  <a:close/>
                </a:path>
              </a:pathLst>
            </a:custGeom>
            <a:solidFill>
              <a:srgbClr val="131B1F">
                <a:alpha val="81961"/>
              </a:srgbClr>
            </a:solidFill>
            <a:ln w="19050" cap="rnd">
              <a:solidFill>
                <a:srgbClr val="FFFFFF">
                  <a:alpha val="81961"/>
                </a:srgbClr>
              </a:solidFill>
              <a:prstDash val="solid"/>
              <a:round/>
            </a:ln>
          </p:spPr>
        </p:sp>
        <p:sp>
          <p:nvSpPr>
            <p:cNvPr name="TextBox 7" id="7"/>
            <p:cNvSpPr txBox="true"/>
            <p:nvPr/>
          </p:nvSpPr>
          <p:spPr>
            <a:xfrm>
              <a:off x="0" y="76200"/>
              <a:ext cx="5105467" cy="1630510"/>
            </a:xfrm>
            <a:prstGeom prst="rect">
              <a:avLst/>
            </a:prstGeom>
          </p:spPr>
          <p:txBody>
            <a:bodyPr anchor="ctr" rtlCol="false" tIns="50800" lIns="50800" bIns="50800" rIns="50800"/>
            <a:lstStyle/>
            <a:p>
              <a:pPr algn="ctr" marL="0" indent="0" lvl="0">
                <a:lnSpc>
                  <a:spcPts val="2048"/>
                </a:lnSpc>
                <a:spcBef>
                  <a:spcPct val="0"/>
                </a:spcBef>
              </a:pPr>
            </a:p>
          </p:txBody>
        </p:sp>
      </p:grpSp>
      <p:sp>
        <p:nvSpPr>
          <p:cNvPr name="TextBox 8" id="8"/>
          <p:cNvSpPr txBox="true"/>
          <p:nvPr/>
        </p:nvSpPr>
        <p:spPr>
          <a:xfrm rot="0">
            <a:off x="2733646" y="2740596"/>
            <a:ext cx="12897464" cy="1153795"/>
          </a:xfrm>
          <a:prstGeom prst="rect">
            <a:avLst/>
          </a:prstGeom>
        </p:spPr>
        <p:txBody>
          <a:bodyPr anchor="t" rtlCol="false" tIns="0" lIns="0" bIns="0" rIns="0">
            <a:spAutoFit/>
          </a:bodyPr>
          <a:lstStyle/>
          <a:p>
            <a:pPr algn="l" marL="474979" indent="-237490" lvl="1">
              <a:lnSpc>
                <a:spcPts val="3079"/>
              </a:lnSpc>
              <a:buFont typeface="Arial"/>
              <a:buChar char="•"/>
            </a:pPr>
            <a:r>
              <a:rPr lang="en-US" sz="2199">
                <a:solidFill>
                  <a:srgbClr val="FDFDFD"/>
                </a:solidFill>
                <a:latin typeface="Alef Bold"/>
                <a:ea typeface="Alef Bold"/>
                <a:cs typeface="Alef Bold"/>
                <a:sym typeface="Alef Bold"/>
              </a:rPr>
              <a:t>E</a:t>
            </a:r>
            <a:r>
              <a:rPr lang="en-US" sz="2199" strike="noStrike" u="none">
                <a:solidFill>
                  <a:srgbClr val="FDFDFD"/>
                </a:solidFill>
                <a:latin typeface="Alef Bold"/>
                <a:ea typeface="Alef Bold"/>
                <a:cs typeface="Alef Bold"/>
                <a:sym typeface="Alef Bold"/>
              </a:rPr>
              <a:t>nd-to-end pipeline </a:t>
            </a:r>
            <a:r>
              <a:rPr lang="en-US" sz="2199" strike="noStrike" u="none">
                <a:solidFill>
                  <a:srgbClr val="FDFDFD"/>
                </a:solidFill>
                <a:latin typeface="Alef Bold"/>
                <a:ea typeface="Alef Bold"/>
                <a:cs typeface="Alef Bold"/>
                <a:sym typeface="Alef Bold"/>
              </a:rPr>
              <a:t>f</a:t>
            </a:r>
            <a:r>
              <a:rPr lang="en-US" sz="2199" strike="noStrike" u="none">
                <a:solidFill>
                  <a:srgbClr val="FDFDFD"/>
                </a:solidFill>
                <a:latin typeface="Alef Bold"/>
                <a:ea typeface="Alef Bold"/>
                <a:cs typeface="Alef Bold"/>
                <a:sym typeface="Alef Bold"/>
              </a:rPr>
              <a:t>or </a:t>
            </a:r>
            <a:r>
              <a:rPr lang="en-US" sz="2199" strike="noStrike" u="none">
                <a:solidFill>
                  <a:srgbClr val="FDFDFD"/>
                </a:solidFill>
                <a:latin typeface="Alef Bold"/>
                <a:ea typeface="Alef Bold"/>
                <a:cs typeface="Alef Bold"/>
                <a:sym typeface="Alef Bold"/>
              </a:rPr>
              <a:t>ma</a:t>
            </a:r>
            <a:r>
              <a:rPr lang="en-US" sz="2199" strike="noStrike" u="none">
                <a:solidFill>
                  <a:srgbClr val="FDFDFD"/>
                </a:solidFill>
                <a:latin typeface="Alef Bold"/>
                <a:ea typeface="Alef Bold"/>
                <a:cs typeface="Alef Bold"/>
                <a:sym typeface="Alef Bold"/>
              </a:rPr>
              <a:t>ritime me</a:t>
            </a:r>
            <a:r>
              <a:rPr lang="en-US" sz="2199" strike="noStrike" u="none">
                <a:solidFill>
                  <a:srgbClr val="FDFDFD"/>
                </a:solidFill>
                <a:latin typeface="Alef Bold"/>
                <a:ea typeface="Alef Bold"/>
                <a:cs typeface="Alef Bold"/>
                <a:sym typeface="Alef Bold"/>
              </a:rPr>
              <a:t>ss</a:t>
            </a:r>
            <a:r>
              <a:rPr lang="en-US" sz="2199" strike="noStrike" u="none">
                <a:solidFill>
                  <a:srgbClr val="FDFDFD"/>
                </a:solidFill>
                <a:latin typeface="Alef Bold"/>
                <a:ea typeface="Alef Bold"/>
                <a:cs typeface="Alef Bold"/>
                <a:sym typeface="Alef Bold"/>
              </a:rPr>
              <a:t>age severity</a:t>
            </a:r>
            <a:r>
              <a:rPr lang="en-US" sz="2199" strike="noStrike" u="none">
                <a:solidFill>
                  <a:srgbClr val="FDFDFD"/>
                </a:solidFill>
                <a:latin typeface="Alef Bold"/>
                <a:ea typeface="Alef Bold"/>
                <a:cs typeface="Alef Bold"/>
                <a:sym typeface="Alef Bold"/>
              </a:rPr>
              <a:t> cla</a:t>
            </a:r>
            <a:r>
              <a:rPr lang="en-US" sz="2199" strike="noStrike" u="none">
                <a:solidFill>
                  <a:srgbClr val="FDFDFD"/>
                </a:solidFill>
                <a:latin typeface="Alef Bold"/>
                <a:ea typeface="Alef Bold"/>
                <a:cs typeface="Alef Bold"/>
                <a:sym typeface="Alef Bold"/>
              </a:rPr>
              <a:t>ssific</a:t>
            </a:r>
            <a:r>
              <a:rPr lang="en-US" sz="2199" strike="noStrike" u="none">
                <a:solidFill>
                  <a:srgbClr val="FDFDFD"/>
                </a:solidFill>
                <a:latin typeface="Alef Bold"/>
                <a:ea typeface="Alef Bold"/>
                <a:cs typeface="Alef Bold"/>
                <a:sym typeface="Alef Bold"/>
              </a:rPr>
              <a:t>ati</a:t>
            </a:r>
            <a:r>
              <a:rPr lang="en-US" sz="2199" strike="noStrike" u="none">
                <a:solidFill>
                  <a:srgbClr val="FDFDFD"/>
                </a:solidFill>
                <a:latin typeface="Alef Bold"/>
                <a:ea typeface="Alef Bold"/>
                <a:cs typeface="Alef Bold"/>
                <a:sym typeface="Alef Bold"/>
              </a:rPr>
              <a:t>on and inf</a:t>
            </a:r>
            <a:r>
              <a:rPr lang="en-US" sz="2199" strike="noStrike" u="none">
                <a:solidFill>
                  <a:srgbClr val="FDFDFD"/>
                </a:solidFill>
                <a:latin typeface="Alef Bold"/>
                <a:ea typeface="Alef Bold"/>
                <a:cs typeface="Alef Bold"/>
                <a:sym typeface="Alef Bold"/>
              </a:rPr>
              <a:t>o</a:t>
            </a:r>
            <a:r>
              <a:rPr lang="en-US" sz="2199" strike="noStrike" u="none">
                <a:solidFill>
                  <a:srgbClr val="FDFDFD"/>
                </a:solidFill>
                <a:latin typeface="Alef Bold"/>
                <a:ea typeface="Alef Bold"/>
                <a:cs typeface="Alef Bold"/>
                <a:sym typeface="Alef Bold"/>
              </a:rPr>
              <a:t>r</a:t>
            </a:r>
            <a:r>
              <a:rPr lang="en-US" sz="2199" strike="noStrike" u="none">
                <a:solidFill>
                  <a:srgbClr val="FDFDFD"/>
                </a:solidFill>
                <a:latin typeface="Alef Bold"/>
                <a:ea typeface="Alef Bold"/>
                <a:cs typeface="Alef Bold"/>
                <a:sym typeface="Alef Bold"/>
              </a:rPr>
              <a:t>m</a:t>
            </a:r>
            <a:r>
              <a:rPr lang="en-US" sz="2199" strike="noStrike" u="none">
                <a:solidFill>
                  <a:srgbClr val="FDFDFD"/>
                </a:solidFill>
                <a:latin typeface="Alef Bold"/>
                <a:ea typeface="Alef Bold"/>
                <a:cs typeface="Alef Bold"/>
                <a:sym typeface="Alef Bold"/>
              </a:rPr>
              <a:t>ation</a:t>
            </a:r>
            <a:r>
              <a:rPr lang="en-US" sz="2199" strike="noStrike" u="none">
                <a:solidFill>
                  <a:srgbClr val="FDFDFD"/>
                </a:solidFill>
                <a:latin typeface="Alef Bold"/>
                <a:ea typeface="Alef Bold"/>
                <a:cs typeface="Alef Bold"/>
                <a:sym typeface="Alef Bold"/>
              </a:rPr>
              <a:t> extraction</a:t>
            </a:r>
          </a:p>
          <a:p>
            <a:pPr algn="l" marL="474979" indent="-237490" lvl="1">
              <a:lnSpc>
                <a:spcPts val="3079"/>
              </a:lnSpc>
              <a:buFont typeface="Arial"/>
              <a:buChar char="•"/>
            </a:pPr>
            <a:r>
              <a:rPr lang="en-US" sz="2199" strike="noStrike" u="none">
                <a:solidFill>
                  <a:srgbClr val="FDFDFD"/>
                </a:solidFill>
                <a:latin typeface="Alef Bold"/>
                <a:ea typeface="Alef Bold"/>
                <a:cs typeface="Alef Bold"/>
                <a:sym typeface="Alef Bold"/>
              </a:rPr>
              <a:t>Realistic radio-communication pipeline: text → audio → noise → ASR → NLP</a:t>
            </a:r>
          </a:p>
          <a:p>
            <a:pPr algn="l" marL="474979" indent="-237490" lvl="1">
              <a:lnSpc>
                <a:spcPts val="3079"/>
              </a:lnSpc>
              <a:buFont typeface="Arial"/>
              <a:buChar char="•"/>
            </a:pPr>
            <a:r>
              <a:rPr lang="en-US" sz="2199" strike="noStrike" u="none">
                <a:solidFill>
                  <a:srgbClr val="FDFDFD"/>
                </a:solidFill>
                <a:latin typeface="Alef Bold"/>
                <a:ea typeface="Alef Bold"/>
                <a:cs typeface="Alef Bold"/>
                <a:sym typeface="Alef Bold"/>
              </a:rPr>
              <a:t>Controlled comparison: Traditional Models vs. Transformer (RoBERTa)</a:t>
            </a:r>
          </a:p>
        </p:txBody>
      </p:sp>
      <p:sp>
        <p:nvSpPr>
          <p:cNvPr name="TextBox 9" id="9"/>
          <p:cNvSpPr txBox="true"/>
          <p:nvPr/>
        </p:nvSpPr>
        <p:spPr>
          <a:xfrm rot="0">
            <a:off x="2733646" y="4215797"/>
            <a:ext cx="4028025" cy="665480"/>
          </a:xfrm>
          <a:prstGeom prst="rect">
            <a:avLst/>
          </a:prstGeom>
        </p:spPr>
        <p:txBody>
          <a:bodyPr anchor="t" rtlCol="false" tIns="0" lIns="0" bIns="0" rIns="0">
            <a:spAutoFit/>
          </a:bodyPr>
          <a:lstStyle/>
          <a:p>
            <a:pPr algn="l" rtl="true" marL="0" indent="0" lvl="0">
              <a:lnSpc>
                <a:spcPts val="5320"/>
              </a:lnSpc>
              <a:spcBef>
                <a:spcPct val="0"/>
              </a:spcBef>
            </a:pPr>
            <a:r>
              <a:rPr lang="en-US" b="true" sz="3800">
                <a:solidFill>
                  <a:srgbClr val="FFFFFF"/>
                </a:solidFill>
                <a:latin typeface="Arimo Bold"/>
                <a:ea typeface="Arimo Bold"/>
                <a:cs typeface="Arimo Bold"/>
                <a:sym typeface="Arimo Bold"/>
              </a:rPr>
              <a:t>DELIV</a:t>
            </a:r>
            <a:r>
              <a:rPr lang="en-US" b="true" sz="3800" strike="noStrike" u="none">
                <a:solidFill>
                  <a:srgbClr val="FFFFFF"/>
                </a:solidFill>
                <a:latin typeface="Arimo Bold"/>
                <a:ea typeface="Arimo Bold"/>
                <a:cs typeface="Arimo Bold"/>
                <a:sym typeface="Arimo Bold"/>
              </a:rPr>
              <a:t>ER</a:t>
            </a:r>
            <a:r>
              <a:rPr lang="en-US" b="true" sz="3800" strike="noStrike" u="none">
                <a:solidFill>
                  <a:srgbClr val="FFFFFF"/>
                </a:solidFill>
                <a:latin typeface="Arimo Bold"/>
                <a:ea typeface="Arimo Bold"/>
                <a:cs typeface="Arimo Bold"/>
                <a:sym typeface="Arimo Bold"/>
              </a:rPr>
              <a:t>ABLE</a:t>
            </a:r>
            <a:r>
              <a:rPr lang="en-US" b="true" sz="3800" strike="noStrike" u="none">
                <a:solidFill>
                  <a:srgbClr val="FFFFFF"/>
                </a:solidFill>
                <a:latin typeface="Arimo Bold"/>
                <a:ea typeface="Arimo Bold"/>
                <a:cs typeface="Arimo Bold"/>
                <a:sym typeface="Arimo Bold"/>
              </a:rPr>
              <a:t>S</a:t>
            </a:r>
          </a:p>
        </p:txBody>
      </p:sp>
      <p:sp>
        <p:nvSpPr>
          <p:cNvPr name="TextBox 10" id="10"/>
          <p:cNvSpPr txBox="true"/>
          <p:nvPr/>
        </p:nvSpPr>
        <p:spPr>
          <a:xfrm rot="0">
            <a:off x="2733646" y="2113216"/>
            <a:ext cx="7935260" cy="665480"/>
          </a:xfrm>
          <a:prstGeom prst="rect">
            <a:avLst/>
          </a:prstGeom>
        </p:spPr>
        <p:txBody>
          <a:bodyPr anchor="t" rtlCol="false" tIns="0" lIns="0" bIns="0" rIns="0">
            <a:spAutoFit/>
          </a:bodyPr>
          <a:lstStyle/>
          <a:p>
            <a:pPr algn="l" rtl="true" marL="0" indent="0" lvl="0">
              <a:lnSpc>
                <a:spcPts val="5320"/>
              </a:lnSpc>
              <a:spcBef>
                <a:spcPct val="0"/>
              </a:spcBef>
            </a:pPr>
            <a:r>
              <a:rPr lang="en-US" b="true" sz="3800">
                <a:solidFill>
                  <a:srgbClr val="FFFFFF"/>
                </a:solidFill>
                <a:latin typeface="Arimo Bold"/>
                <a:ea typeface="Arimo Bold"/>
                <a:cs typeface="Arimo Bold"/>
                <a:sym typeface="Arimo Bold"/>
              </a:rPr>
              <a:t>PROJ</a:t>
            </a:r>
            <a:r>
              <a:rPr lang="en-US" b="true" sz="3800" strike="noStrike" u="none">
                <a:solidFill>
                  <a:srgbClr val="FFFFFF"/>
                </a:solidFill>
                <a:latin typeface="Arimo Bold"/>
                <a:ea typeface="Arimo Bold"/>
                <a:cs typeface="Arimo Bold"/>
                <a:sym typeface="Arimo Bold"/>
              </a:rPr>
              <a:t>E</a:t>
            </a:r>
            <a:r>
              <a:rPr lang="en-US" b="true" sz="3800" strike="noStrike" u="none">
                <a:solidFill>
                  <a:srgbClr val="FFFFFF"/>
                </a:solidFill>
                <a:latin typeface="Arimo Bold"/>
                <a:ea typeface="Arimo Bold"/>
                <a:cs typeface="Arimo Bold"/>
                <a:sym typeface="Arimo Bold"/>
              </a:rPr>
              <a:t>C</a:t>
            </a:r>
            <a:r>
              <a:rPr lang="en-US" b="true" sz="3800" strike="noStrike" u="none">
                <a:solidFill>
                  <a:srgbClr val="FFFFFF"/>
                </a:solidFill>
                <a:latin typeface="Arimo Bold"/>
                <a:ea typeface="Arimo Bold"/>
                <a:cs typeface="Arimo Bold"/>
                <a:sym typeface="Arimo Bold"/>
              </a:rPr>
              <a:t>T</a:t>
            </a:r>
            <a:r>
              <a:rPr lang="en-US" b="true" sz="3800" strike="noStrike" u="none">
                <a:solidFill>
                  <a:srgbClr val="FFFFFF"/>
                </a:solidFill>
                <a:latin typeface="Arimo Bold"/>
                <a:ea typeface="Arimo Bold"/>
                <a:cs typeface="Arimo Bold"/>
                <a:sym typeface="Arimo Bold"/>
              </a:rPr>
              <a:t> ACH</a:t>
            </a:r>
            <a:r>
              <a:rPr lang="en-US" b="true" sz="3800" strike="noStrike" u="none">
                <a:solidFill>
                  <a:srgbClr val="FFFFFF"/>
                </a:solidFill>
                <a:latin typeface="Arimo Bold"/>
                <a:ea typeface="Arimo Bold"/>
                <a:cs typeface="Arimo Bold"/>
                <a:sym typeface="Arimo Bold"/>
              </a:rPr>
              <a:t>I</a:t>
            </a:r>
            <a:r>
              <a:rPr lang="en-US" b="true" sz="3800" strike="noStrike" u="none">
                <a:solidFill>
                  <a:srgbClr val="FFFFFF"/>
                </a:solidFill>
                <a:latin typeface="Arimo Bold"/>
                <a:ea typeface="Arimo Bold"/>
                <a:cs typeface="Arimo Bold"/>
                <a:sym typeface="Arimo Bold"/>
              </a:rPr>
              <a:t>EVEMENT</a:t>
            </a:r>
            <a:r>
              <a:rPr lang="en-US" b="true" sz="3800" strike="noStrike" u="none">
                <a:solidFill>
                  <a:srgbClr val="FFFFFF"/>
                </a:solidFill>
                <a:latin typeface="Arimo Bold"/>
                <a:ea typeface="Arimo Bold"/>
                <a:cs typeface="Arimo Bold"/>
                <a:sym typeface="Arimo Bold"/>
              </a:rPr>
              <a:t>S</a:t>
            </a:r>
          </a:p>
        </p:txBody>
      </p:sp>
      <p:sp>
        <p:nvSpPr>
          <p:cNvPr name="TextBox 11" id="11"/>
          <p:cNvSpPr txBox="true"/>
          <p:nvPr/>
        </p:nvSpPr>
        <p:spPr>
          <a:xfrm rot="0">
            <a:off x="3726826" y="7517136"/>
            <a:ext cx="12550446" cy="860425"/>
          </a:xfrm>
          <a:prstGeom prst="rect">
            <a:avLst/>
          </a:prstGeom>
        </p:spPr>
        <p:txBody>
          <a:bodyPr anchor="t" rtlCol="false" tIns="0" lIns="0" bIns="0" rIns="0">
            <a:spAutoFit/>
          </a:bodyPr>
          <a:lstStyle/>
          <a:p>
            <a:pPr algn="l">
              <a:lnSpc>
                <a:spcPts val="3499"/>
              </a:lnSpc>
              <a:spcBef>
                <a:spcPct val="0"/>
              </a:spcBef>
            </a:pPr>
            <a:r>
              <a:rPr lang="en-US" sz="2499">
                <a:solidFill>
                  <a:srgbClr val="FFFFFF"/>
                </a:solidFill>
                <a:latin typeface="Alef Bold"/>
                <a:ea typeface="Alef Bold"/>
                <a:cs typeface="Alef Bold"/>
                <a:sym typeface="Alef Bold"/>
              </a:rPr>
              <a:t>The project’s novelty lies in training the system on noisy ASR outputs rather than assuming clean transcripts.</a:t>
            </a:r>
          </a:p>
        </p:txBody>
      </p:sp>
      <p:sp>
        <p:nvSpPr>
          <p:cNvPr name="TextBox 12" id="12"/>
          <p:cNvSpPr txBox="true"/>
          <p:nvPr/>
        </p:nvSpPr>
        <p:spPr>
          <a:xfrm rot="0">
            <a:off x="2733646" y="4843177"/>
            <a:ext cx="9658685" cy="1153795"/>
          </a:xfrm>
          <a:prstGeom prst="rect">
            <a:avLst/>
          </a:prstGeom>
        </p:spPr>
        <p:txBody>
          <a:bodyPr anchor="t" rtlCol="false" tIns="0" lIns="0" bIns="0" rIns="0">
            <a:spAutoFit/>
          </a:bodyPr>
          <a:lstStyle/>
          <a:p>
            <a:pPr algn="l" marL="474979" indent="-237490" lvl="1">
              <a:lnSpc>
                <a:spcPts val="3079"/>
              </a:lnSpc>
              <a:buFont typeface="Arial"/>
              <a:buChar char="•"/>
            </a:pPr>
            <a:r>
              <a:rPr lang="en-US" sz="2199">
                <a:solidFill>
                  <a:srgbClr val="FDFDFD"/>
                </a:solidFill>
                <a:latin typeface="Alef Bold"/>
                <a:ea typeface="Alef Bold"/>
                <a:cs typeface="Alef Bold"/>
                <a:sym typeface="Alef Bold"/>
              </a:rPr>
              <a:t>S</a:t>
            </a:r>
            <a:r>
              <a:rPr lang="en-US" sz="2199" strike="noStrike" u="none">
                <a:solidFill>
                  <a:srgbClr val="FDFDFD"/>
                </a:solidFill>
                <a:latin typeface="Alef Bold"/>
                <a:ea typeface="Alef Bold"/>
                <a:cs typeface="Alef Bold"/>
                <a:sym typeface="Alef Bold"/>
              </a:rPr>
              <a:t>everity classification (Distress | Urgency | Safety | Routine)</a:t>
            </a:r>
          </a:p>
          <a:p>
            <a:pPr algn="l" marL="474979" indent="-237490" lvl="1">
              <a:lnSpc>
                <a:spcPts val="3079"/>
              </a:lnSpc>
              <a:buFont typeface="Arial"/>
              <a:buChar char="•"/>
            </a:pPr>
            <a:r>
              <a:rPr lang="en-US" sz="2199" strike="noStrike" u="none">
                <a:solidFill>
                  <a:srgbClr val="FDFDFD"/>
                </a:solidFill>
                <a:latin typeface="Alef Bold"/>
                <a:ea typeface="Alef Bold"/>
                <a:cs typeface="Alef Bold"/>
                <a:sym typeface="Alef Bold"/>
              </a:rPr>
              <a:t>S</a:t>
            </a:r>
            <a:r>
              <a:rPr lang="en-US" sz="2199" strike="noStrike" u="none">
                <a:solidFill>
                  <a:srgbClr val="FDFDFD"/>
                </a:solidFill>
                <a:latin typeface="Alef Bold"/>
                <a:ea typeface="Alef Bold"/>
                <a:cs typeface="Alef Bold"/>
                <a:sym typeface="Alef Bold"/>
              </a:rPr>
              <a:t>tructured operational output (JSON): vessel, location, POB, incident</a:t>
            </a:r>
          </a:p>
          <a:p>
            <a:pPr algn="l" marL="474979" indent="-237490" lvl="1">
              <a:lnSpc>
                <a:spcPts val="3079"/>
              </a:lnSpc>
              <a:buFont typeface="Arial"/>
              <a:buChar char="•"/>
            </a:pPr>
            <a:r>
              <a:rPr lang="en-US" sz="2199" strike="noStrike" u="none">
                <a:solidFill>
                  <a:srgbClr val="FDFDFD"/>
                </a:solidFill>
                <a:latin typeface="Alef Bold"/>
                <a:ea typeface="Alef Bold"/>
                <a:cs typeface="Alef Bold"/>
                <a:sym typeface="Alef Bold"/>
              </a:rPr>
              <a:t>Sy</a:t>
            </a:r>
            <a:r>
              <a:rPr lang="en-US" sz="2199" strike="noStrike" u="none">
                <a:solidFill>
                  <a:srgbClr val="FDFDFD"/>
                </a:solidFill>
                <a:latin typeface="Alef Bold"/>
                <a:ea typeface="Alef Bold"/>
                <a:cs typeface="Alef Bold"/>
                <a:sym typeface="Alef Bold"/>
              </a:rPr>
              <a:t>nthetic maritime dataset (text + audio + noisy ASR)</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 t="0" r="-12" b="0"/>
            </a:stretch>
          </a:blipFill>
        </p:spPr>
      </p:sp>
      <p:grpSp>
        <p:nvGrpSpPr>
          <p:cNvPr name="Group 3" id="3"/>
          <p:cNvGrpSpPr/>
          <p:nvPr/>
        </p:nvGrpSpPr>
        <p:grpSpPr>
          <a:xfrm rot="0">
            <a:off x="236816" y="2897168"/>
            <a:ext cx="13082374" cy="6992589"/>
            <a:chOff x="0" y="0"/>
            <a:chExt cx="5034578" cy="2691005"/>
          </a:xfrm>
        </p:grpSpPr>
        <p:sp>
          <p:nvSpPr>
            <p:cNvPr name="Freeform 4" id="4"/>
            <p:cNvSpPr/>
            <p:nvPr/>
          </p:nvSpPr>
          <p:spPr>
            <a:xfrm flipH="false" flipV="false" rot="0">
              <a:off x="0" y="0"/>
              <a:ext cx="5034578" cy="2691005"/>
            </a:xfrm>
            <a:custGeom>
              <a:avLst/>
              <a:gdLst/>
              <a:ahLst/>
              <a:cxnLst/>
              <a:rect r="r" b="b" t="t" l="l"/>
              <a:pathLst>
                <a:path h="2691005" w="5034578">
                  <a:moveTo>
                    <a:pt x="30181" y="0"/>
                  </a:moveTo>
                  <a:lnTo>
                    <a:pt x="5004398" y="0"/>
                  </a:lnTo>
                  <a:cubicBezTo>
                    <a:pt x="5021066" y="0"/>
                    <a:pt x="5034578" y="13512"/>
                    <a:pt x="5034578" y="30181"/>
                  </a:cubicBezTo>
                  <a:lnTo>
                    <a:pt x="5034578" y="2660824"/>
                  </a:lnTo>
                  <a:cubicBezTo>
                    <a:pt x="5034578" y="2668829"/>
                    <a:pt x="5031399" y="2676505"/>
                    <a:pt x="5025739" y="2682165"/>
                  </a:cubicBezTo>
                  <a:cubicBezTo>
                    <a:pt x="5020078" y="2687825"/>
                    <a:pt x="5012402" y="2691005"/>
                    <a:pt x="5004398" y="2691005"/>
                  </a:cubicBezTo>
                  <a:lnTo>
                    <a:pt x="30181" y="2691005"/>
                  </a:lnTo>
                  <a:cubicBezTo>
                    <a:pt x="13512" y="2691005"/>
                    <a:pt x="0" y="2677493"/>
                    <a:pt x="0" y="2660824"/>
                  </a:cubicBezTo>
                  <a:lnTo>
                    <a:pt x="0" y="30181"/>
                  </a:lnTo>
                  <a:cubicBezTo>
                    <a:pt x="0" y="13512"/>
                    <a:pt x="13512" y="0"/>
                    <a:pt x="30181" y="0"/>
                  </a:cubicBezTo>
                  <a:close/>
                </a:path>
              </a:pathLst>
            </a:custGeom>
            <a:solidFill>
              <a:srgbClr val="131B1F">
                <a:alpha val="81961"/>
              </a:srgbClr>
            </a:solidFill>
            <a:ln w="19050" cap="rnd">
              <a:solidFill>
                <a:srgbClr val="FFFFFF">
                  <a:alpha val="81961"/>
                </a:srgbClr>
              </a:solidFill>
              <a:prstDash val="solid"/>
              <a:round/>
            </a:ln>
          </p:spPr>
        </p:sp>
        <p:sp>
          <p:nvSpPr>
            <p:cNvPr name="TextBox 5" id="5"/>
            <p:cNvSpPr txBox="true"/>
            <p:nvPr/>
          </p:nvSpPr>
          <p:spPr>
            <a:xfrm>
              <a:off x="0" y="76200"/>
              <a:ext cx="5034578" cy="2614805"/>
            </a:xfrm>
            <a:prstGeom prst="rect">
              <a:avLst/>
            </a:prstGeom>
          </p:spPr>
          <p:txBody>
            <a:bodyPr anchor="ctr" rtlCol="false" tIns="50800" lIns="50800" bIns="50800" rIns="50800"/>
            <a:lstStyle/>
            <a:p>
              <a:pPr algn="ctr" marL="0" indent="0" lvl="0">
                <a:lnSpc>
                  <a:spcPts val="2048"/>
                </a:lnSpc>
                <a:spcBef>
                  <a:spcPct val="0"/>
                </a:spcBef>
              </a:pPr>
            </a:p>
          </p:txBody>
        </p:sp>
      </p:grpSp>
      <p:sp>
        <p:nvSpPr>
          <p:cNvPr name="Freeform 6" id="6"/>
          <p:cNvSpPr/>
          <p:nvPr/>
        </p:nvSpPr>
        <p:spPr>
          <a:xfrm flipH="false" flipV="false" rot="0">
            <a:off x="521636" y="3139114"/>
            <a:ext cx="12490556" cy="6508697"/>
          </a:xfrm>
          <a:custGeom>
            <a:avLst/>
            <a:gdLst/>
            <a:ahLst/>
            <a:cxnLst/>
            <a:rect r="r" b="b" t="t" l="l"/>
            <a:pathLst>
              <a:path h="6508697" w="12490556">
                <a:moveTo>
                  <a:pt x="0" y="0"/>
                </a:moveTo>
                <a:lnTo>
                  <a:pt x="12490556" y="0"/>
                </a:lnTo>
                <a:lnTo>
                  <a:pt x="12490556" y="6508697"/>
                </a:lnTo>
                <a:lnTo>
                  <a:pt x="0" y="6508697"/>
                </a:lnTo>
                <a:lnTo>
                  <a:pt x="0" y="0"/>
                </a:lnTo>
                <a:close/>
              </a:path>
            </a:pathLst>
          </a:custGeom>
          <a:blipFill>
            <a:blip r:embed="rId3"/>
            <a:stretch>
              <a:fillRect l="0" t="-2933" r="0" b="-2933"/>
            </a:stretch>
          </a:blipFill>
        </p:spPr>
      </p:sp>
      <p:sp>
        <p:nvSpPr>
          <p:cNvPr name="TextBox 7" id="7"/>
          <p:cNvSpPr txBox="true"/>
          <p:nvPr/>
        </p:nvSpPr>
        <p:spPr>
          <a:xfrm rot="0">
            <a:off x="13151956" y="4314739"/>
            <a:ext cx="4808419" cy="2715895"/>
          </a:xfrm>
          <a:prstGeom prst="rect">
            <a:avLst/>
          </a:prstGeom>
        </p:spPr>
        <p:txBody>
          <a:bodyPr anchor="t" rtlCol="false" tIns="0" lIns="0" bIns="0" rIns="0">
            <a:spAutoFit/>
          </a:bodyPr>
          <a:lstStyle/>
          <a:p>
            <a:pPr algn="l" marL="474979" indent="-237490" lvl="1">
              <a:lnSpc>
                <a:spcPts val="3079"/>
              </a:lnSpc>
              <a:spcBef>
                <a:spcPct val="0"/>
              </a:spcBef>
              <a:buFont typeface="Arial"/>
              <a:buChar char="•"/>
            </a:pPr>
            <a:r>
              <a:rPr lang="en-US" sz="2199">
                <a:solidFill>
                  <a:srgbClr val="FDFDFD"/>
                </a:solidFill>
                <a:latin typeface="Alef Bold"/>
                <a:ea typeface="Alef Bold"/>
                <a:cs typeface="Alef Bold"/>
                <a:sym typeface="Alef Bold"/>
              </a:rPr>
              <a:t>Synthetic</a:t>
            </a:r>
            <a:r>
              <a:rPr lang="en-US" sz="2199" strike="noStrike" u="none">
                <a:solidFill>
                  <a:srgbClr val="FDFDFD"/>
                </a:solidFill>
                <a:latin typeface="Alef Bold"/>
                <a:ea typeface="Alef Bold"/>
                <a:cs typeface="Alef Bold"/>
                <a:sym typeface="Alef Bold"/>
              </a:rPr>
              <a:t> data generation </a:t>
            </a:r>
            <a:r>
              <a:rPr lang="en-US" sz="2199" strike="noStrike" u="none">
                <a:solidFill>
                  <a:srgbClr val="FDFDFD"/>
                </a:solidFill>
                <a:latin typeface="Alef Bold"/>
                <a:ea typeface="Alef Bold"/>
                <a:cs typeface="Alef Bold"/>
                <a:sym typeface="Alef Bold"/>
              </a:rPr>
              <a:t>(t</a:t>
            </a:r>
            <a:r>
              <a:rPr lang="en-US" sz="2199" strike="noStrike" u="none">
                <a:solidFill>
                  <a:srgbClr val="FDFDFD"/>
                </a:solidFill>
                <a:latin typeface="Alef Bold"/>
                <a:ea typeface="Alef Bold"/>
                <a:cs typeface="Alef Bold"/>
                <a:sym typeface="Alef Bold"/>
              </a:rPr>
              <a:t>ext + audio)</a:t>
            </a:r>
          </a:p>
          <a:p>
            <a:pPr algn="l" marL="474979" indent="-237490" lvl="1">
              <a:lnSpc>
                <a:spcPts val="3079"/>
              </a:lnSpc>
              <a:spcBef>
                <a:spcPct val="0"/>
              </a:spcBef>
              <a:buFont typeface="Arial"/>
              <a:buChar char="•"/>
            </a:pPr>
            <a:r>
              <a:rPr lang="en-US" sz="2199" strike="noStrike" u="none">
                <a:solidFill>
                  <a:srgbClr val="FDFDFD"/>
                </a:solidFill>
                <a:latin typeface="Alef Bold"/>
                <a:ea typeface="Alef Bold"/>
                <a:cs typeface="Alef Bold"/>
                <a:sym typeface="Alef Bold"/>
              </a:rPr>
              <a:t>Controlled ASR noise simulation (SNR-based)</a:t>
            </a:r>
          </a:p>
          <a:p>
            <a:pPr algn="l" marL="474979" indent="-237490" lvl="1">
              <a:lnSpc>
                <a:spcPts val="3079"/>
              </a:lnSpc>
              <a:spcBef>
                <a:spcPct val="0"/>
              </a:spcBef>
              <a:buFont typeface="Arial"/>
              <a:buChar char="•"/>
            </a:pPr>
            <a:r>
              <a:rPr lang="en-US" sz="2199" strike="noStrike" u="none">
                <a:solidFill>
                  <a:srgbClr val="FDFDFD"/>
                </a:solidFill>
                <a:latin typeface="Alef Bold"/>
                <a:ea typeface="Alef Bold"/>
                <a:cs typeface="Alef Bold"/>
                <a:sym typeface="Alef Bold"/>
              </a:rPr>
              <a:t>Model training &amp; evaluation (F1, Accuracy)</a:t>
            </a:r>
          </a:p>
          <a:p>
            <a:pPr algn="l" marL="474979" indent="-237490" lvl="1">
              <a:lnSpc>
                <a:spcPts val="3079"/>
              </a:lnSpc>
              <a:spcBef>
                <a:spcPct val="0"/>
              </a:spcBef>
              <a:buFont typeface="Arial"/>
              <a:buChar char="•"/>
            </a:pPr>
            <a:r>
              <a:rPr lang="en-US" sz="2199" strike="noStrike" u="none">
                <a:solidFill>
                  <a:srgbClr val="FDFDFD"/>
                </a:solidFill>
                <a:latin typeface="Alef Bold"/>
                <a:ea typeface="Alef Bold"/>
                <a:cs typeface="Alef Bold"/>
                <a:sym typeface="Alef Bold"/>
              </a:rPr>
              <a:t>Robustness &amp; adversarial testing</a:t>
            </a:r>
          </a:p>
        </p:txBody>
      </p:sp>
      <p:sp>
        <p:nvSpPr>
          <p:cNvPr name="TextBox 8" id="8"/>
          <p:cNvSpPr txBox="true"/>
          <p:nvPr/>
        </p:nvSpPr>
        <p:spPr>
          <a:xfrm rot="0">
            <a:off x="818158" y="2037807"/>
            <a:ext cx="16441142" cy="625475"/>
          </a:xfrm>
          <a:prstGeom prst="rect">
            <a:avLst/>
          </a:prstGeom>
        </p:spPr>
        <p:txBody>
          <a:bodyPr anchor="t" rtlCol="false" tIns="0" lIns="0" bIns="0" rIns="0">
            <a:spAutoFit/>
          </a:bodyPr>
          <a:lstStyle/>
          <a:p>
            <a:pPr algn="ctr" rtl="true" marL="0" indent="0" lvl="0">
              <a:lnSpc>
                <a:spcPts val="4900"/>
              </a:lnSpc>
              <a:spcBef>
                <a:spcPct val="0"/>
              </a:spcBef>
            </a:pPr>
            <a:r>
              <a:rPr lang="en-US" b="true" sz="3500">
                <a:solidFill>
                  <a:srgbClr val="FFFFFF"/>
                </a:solidFill>
                <a:latin typeface="Arimo Bold"/>
                <a:ea typeface="Arimo Bold"/>
                <a:cs typeface="Arimo Bold"/>
                <a:sym typeface="Arimo Bold"/>
              </a:rPr>
              <a:t>TEXT → TTS → NOISE → ASR → CLASSIFIER</a:t>
            </a:r>
            <a:r>
              <a:rPr lang="en-US" b="true" sz="3500" strike="noStrike" u="none">
                <a:solidFill>
                  <a:srgbClr val="FFFFFF"/>
                </a:solidFill>
                <a:latin typeface="Arimo Bold"/>
                <a:ea typeface="Arimo Bold"/>
                <a:cs typeface="Arimo Bold"/>
                <a:sym typeface="Arimo Bold"/>
              </a:rPr>
              <a:t> → </a:t>
            </a:r>
            <a:r>
              <a:rPr lang="en-US" b="true" sz="3500" strike="noStrike" u="none">
                <a:solidFill>
                  <a:srgbClr val="FFFFFF"/>
                </a:solidFill>
                <a:latin typeface="Arimo Bold"/>
                <a:ea typeface="Arimo Bold"/>
                <a:cs typeface="Arimo Bold"/>
                <a:sym typeface="Arimo Bold"/>
              </a:rPr>
              <a:t>LABEL</a:t>
            </a:r>
            <a:r>
              <a:rPr lang="en-US" b="true" sz="3500" strike="noStrike" u="none">
                <a:solidFill>
                  <a:srgbClr val="FFFFFF"/>
                </a:solidFill>
                <a:latin typeface="Arimo Bold"/>
                <a:ea typeface="Arimo Bold"/>
                <a:cs typeface="Arimo Bold"/>
                <a:sym typeface="Arimo Bold"/>
              </a:rPr>
              <a:t> </a:t>
            </a:r>
            <a:r>
              <a:rPr lang="en-US" b="true" sz="3500" strike="noStrike" u="none">
                <a:solidFill>
                  <a:srgbClr val="FFFFFF"/>
                </a:solidFill>
                <a:latin typeface="Arimo Bold"/>
                <a:ea typeface="Arimo Bold"/>
                <a:cs typeface="Arimo Bold"/>
                <a:sym typeface="Arimo Bold"/>
              </a:rPr>
              <a:t>+ EXTRACTI</a:t>
            </a:r>
            <a:r>
              <a:rPr lang="en-US" b="true" sz="3500" strike="noStrike" u="none">
                <a:solidFill>
                  <a:srgbClr val="FFFFFF"/>
                </a:solidFill>
                <a:latin typeface="Arimo Bold"/>
                <a:ea typeface="Arimo Bold"/>
                <a:cs typeface="Arimo Bold"/>
                <a:sym typeface="Arimo Bold"/>
              </a:rPr>
              <a:t>O</a:t>
            </a:r>
            <a:r>
              <a:rPr lang="en-US" b="true" sz="3500" strike="noStrike" u="none">
                <a:solidFill>
                  <a:srgbClr val="FFFFFF"/>
                </a:solidFill>
                <a:latin typeface="Arimo Bold"/>
                <a:ea typeface="Arimo Bold"/>
                <a:cs typeface="Arimo Bold"/>
                <a:sym typeface="Arimo Bold"/>
              </a:rPr>
              <a:t>N</a:t>
            </a:r>
          </a:p>
        </p:txBody>
      </p:sp>
      <p:sp>
        <p:nvSpPr>
          <p:cNvPr name="TextBox 9" id="9"/>
          <p:cNvSpPr txBox="true"/>
          <p:nvPr/>
        </p:nvSpPr>
        <p:spPr>
          <a:xfrm rot="0">
            <a:off x="5354836" y="314325"/>
            <a:ext cx="7578328" cy="1057275"/>
          </a:xfrm>
          <a:prstGeom prst="rect">
            <a:avLst/>
          </a:prstGeom>
        </p:spPr>
        <p:txBody>
          <a:bodyPr anchor="t" rtlCol="false" tIns="0" lIns="0" bIns="0" rIns="0">
            <a:spAutoFit/>
          </a:bodyPr>
          <a:lstStyle/>
          <a:p>
            <a:pPr algn="ctr" rtl="true">
              <a:lnSpc>
                <a:spcPts val="8400"/>
              </a:lnSpc>
            </a:pPr>
            <a:r>
              <a:rPr lang="en-US" b="true" sz="6000">
                <a:solidFill>
                  <a:srgbClr val="FFFFFF"/>
                </a:solidFill>
                <a:latin typeface="Arimo Bold"/>
                <a:ea typeface="Arimo Bold"/>
                <a:cs typeface="Arimo Bold"/>
                <a:sym typeface="Arimo Bold"/>
              </a:rPr>
              <a:t>Review Methodol</a:t>
            </a:r>
            <a:r>
              <a:rPr lang="en-US" b="true" sz="6000">
                <a:solidFill>
                  <a:srgbClr val="FFFFFF"/>
                </a:solidFill>
                <a:latin typeface="Arimo Bold"/>
                <a:ea typeface="Arimo Bold"/>
                <a:cs typeface="Arimo Bold"/>
                <a:sym typeface="Arimo Bold"/>
              </a:rPr>
              <a:t>ogy</a:t>
            </a:r>
          </a:p>
        </p:txBody>
      </p:sp>
      <p:sp>
        <p:nvSpPr>
          <p:cNvPr name="TextBox 10" id="10"/>
          <p:cNvSpPr txBox="true"/>
          <p:nvPr/>
        </p:nvSpPr>
        <p:spPr>
          <a:xfrm rot="0">
            <a:off x="6322067" y="1364978"/>
            <a:ext cx="5643866" cy="688975"/>
          </a:xfrm>
          <a:prstGeom prst="rect">
            <a:avLst/>
          </a:prstGeom>
        </p:spPr>
        <p:txBody>
          <a:bodyPr anchor="t" rtlCol="false" tIns="0" lIns="0" bIns="0" rIns="0">
            <a:spAutoFit/>
          </a:bodyPr>
          <a:lstStyle/>
          <a:p>
            <a:pPr algn="ctr" rtl="true" marL="0" indent="0" lvl="0">
              <a:lnSpc>
                <a:spcPts val="5599"/>
              </a:lnSpc>
              <a:spcBef>
                <a:spcPct val="0"/>
              </a:spcBef>
            </a:pPr>
            <a:r>
              <a:rPr lang="en-US" b="true" sz="3999" strike="noStrike" u="none">
                <a:solidFill>
                  <a:srgbClr val="FFD166"/>
                </a:solidFill>
                <a:latin typeface="Arimo Bold"/>
                <a:ea typeface="Arimo Bold"/>
                <a:cs typeface="Arimo Bold"/>
                <a:sym typeface="Arimo Bold"/>
              </a:rPr>
              <a:t>Dual Augementation</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 t="0" r="-12" b="0"/>
            </a:stretch>
          </a:blipFill>
        </p:spPr>
      </p:sp>
      <p:grpSp>
        <p:nvGrpSpPr>
          <p:cNvPr name="Group 3" id="3"/>
          <p:cNvGrpSpPr/>
          <p:nvPr/>
        </p:nvGrpSpPr>
        <p:grpSpPr>
          <a:xfrm rot="0">
            <a:off x="13307629" y="3001707"/>
            <a:ext cx="2453043" cy="891321"/>
            <a:chOff x="0" y="0"/>
            <a:chExt cx="923332" cy="335496"/>
          </a:xfrm>
        </p:grpSpPr>
        <p:sp>
          <p:nvSpPr>
            <p:cNvPr name="Freeform 4" id="4"/>
            <p:cNvSpPr/>
            <p:nvPr/>
          </p:nvSpPr>
          <p:spPr>
            <a:xfrm flipH="false" flipV="false" rot="0">
              <a:off x="0" y="0"/>
              <a:ext cx="923332" cy="335496"/>
            </a:xfrm>
            <a:custGeom>
              <a:avLst/>
              <a:gdLst/>
              <a:ahLst/>
              <a:cxnLst/>
              <a:rect r="r" b="b" t="t" l="l"/>
              <a:pathLst>
                <a:path h="335496" w="923332">
                  <a:moveTo>
                    <a:pt x="160958" y="0"/>
                  </a:moveTo>
                  <a:lnTo>
                    <a:pt x="762373" y="0"/>
                  </a:lnTo>
                  <a:cubicBezTo>
                    <a:pt x="805062" y="0"/>
                    <a:pt x="846003" y="16958"/>
                    <a:pt x="876188" y="47144"/>
                  </a:cubicBezTo>
                  <a:cubicBezTo>
                    <a:pt x="906374" y="77329"/>
                    <a:pt x="923332" y="118270"/>
                    <a:pt x="923332" y="160958"/>
                  </a:cubicBezTo>
                  <a:lnTo>
                    <a:pt x="923332" y="174537"/>
                  </a:lnTo>
                  <a:cubicBezTo>
                    <a:pt x="923332" y="217226"/>
                    <a:pt x="906374" y="258166"/>
                    <a:pt x="876188" y="288352"/>
                  </a:cubicBezTo>
                  <a:cubicBezTo>
                    <a:pt x="846003" y="318538"/>
                    <a:pt x="805062" y="335496"/>
                    <a:pt x="762373" y="335496"/>
                  </a:cubicBezTo>
                  <a:lnTo>
                    <a:pt x="160958" y="335496"/>
                  </a:lnTo>
                  <a:cubicBezTo>
                    <a:pt x="118270" y="335496"/>
                    <a:pt x="77329" y="318538"/>
                    <a:pt x="47144" y="288352"/>
                  </a:cubicBezTo>
                  <a:cubicBezTo>
                    <a:pt x="16958" y="258166"/>
                    <a:pt x="0" y="217226"/>
                    <a:pt x="0" y="174537"/>
                  </a:cubicBezTo>
                  <a:lnTo>
                    <a:pt x="0" y="160958"/>
                  </a:lnTo>
                  <a:cubicBezTo>
                    <a:pt x="0" y="118270"/>
                    <a:pt x="16958" y="77329"/>
                    <a:pt x="47144" y="47144"/>
                  </a:cubicBezTo>
                  <a:cubicBezTo>
                    <a:pt x="77329" y="16958"/>
                    <a:pt x="118270" y="0"/>
                    <a:pt x="160958" y="0"/>
                  </a:cubicBezTo>
                  <a:close/>
                </a:path>
              </a:pathLst>
            </a:custGeom>
            <a:solidFill>
              <a:srgbClr val="131B1F">
                <a:alpha val="81961"/>
              </a:srgbClr>
            </a:solidFill>
            <a:ln w="19050" cap="rnd">
              <a:solidFill>
                <a:srgbClr val="FFFFFF">
                  <a:alpha val="81961"/>
                </a:srgbClr>
              </a:solidFill>
              <a:prstDash val="solid"/>
              <a:round/>
            </a:ln>
          </p:spPr>
        </p:sp>
        <p:sp>
          <p:nvSpPr>
            <p:cNvPr name="TextBox 5" id="5"/>
            <p:cNvSpPr txBox="true"/>
            <p:nvPr/>
          </p:nvSpPr>
          <p:spPr>
            <a:xfrm>
              <a:off x="0" y="76200"/>
              <a:ext cx="923332" cy="259296"/>
            </a:xfrm>
            <a:prstGeom prst="rect">
              <a:avLst/>
            </a:prstGeom>
          </p:spPr>
          <p:txBody>
            <a:bodyPr anchor="ctr" rtlCol="false" tIns="50800" lIns="50800" bIns="50800" rIns="50800"/>
            <a:lstStyle/>
            <a:p>
              <a:pPr algn="ctr" marL="0" indent="0" lvl="0">
                <a:lnSpc>
                  <a:spcPts val="2048"/>
                </a:lnSpc>
                <a:spcBef>
                  <a:spcPct val="0"/>
                </a:spcBef>
              </a:pPr>
            </a:p>
          </p:txBody>
        </p:sp>
      </p:grpSp>
      <p:grpSp>
        <p:nvGrpSpPr>
          <p:cNvPr name="Group 6" id="6"/>
          <p:cNvGrpSpPr/>
          <p:nvPr/>
        </p:nvGrpSpPr>
        <p:grpSpPr>
          <a:xfrm rot="0">
            <a:off x="1028700" y="2323467"/>
            <a:ext cx="5067396" cy="6621395"/>
            <a:chOff x="0" y="0"/>
            <a:chExt cx="1907381" cy="2492310"/>
          </a:xfrm>
        </p:grpSpPr>
        <p:sp>
          <p:nvSpPr>
            <p:cNvPr name="Freeform 7" id="7"/>
            <p:cNvSpPr/>
            <p:nvPr/>
          </p:nvSpPr>
          <p:spPr>
            <a:xfrm flipH="false" flipV="false" rot="0">
              <a:off x="0" y="0"/>
              <a:ext cx="1907381" cy="2492310"/>
            </a:xfrm>
            <a:custGeom>
              <a:avLst/>
              <a:gdLst/>
              <a:ahLst/>
              <a:cxnLst/>
              <a:rect r="r" b="b" t="t" l="l"/>
              <a:pathLst>
                <a:path h="2492310" w="1907381">
                  <a:moveTo>
                    <a:pt x="77917" y="0"/>
                  </a:moveTo>
                  <a:lnTo>
                    <a:pt x="1829464" y="0"/>
                  </a:lnTo>
                  <a:cubicBezTo>
                    <a:pt x="1850129" y="0"/>
                    <a:pt x="1869947" y="8209"/>
                    <a:pt x="1884560" y="22821"/>
                  </a:cubicBezTo>
                  <a:cubicBezTo>
                    <a:pt x="1899172" y="37434"/>
                    <a:pt x="1907381" y="57252"/>
                    <a:pt x="1907381" y="77917"/>
                  </a:cubicBezTo>
                  <a:lnTo>
                    <a:pt x="1907381" y="2414393"/>
                  </a:lnTo>
                  <a:cubicBezTo>
                    <a:pt x="1907381" y="2457426"/>
                    <a:pt x="1872497" y="2492310"/>
                    <a:pt x="1829464" y="2492310"/>
                  </a:cubicBezTo>
                  <a:lnTo>
                    <a:pt x="77917" y="2492310"/>
                  </a:lnTo>
                  <a:cubicBezTo>
                    <a:pt x="57252" y="2492310"/>
                    <a:pt x="37434" y="2484101"/>
                    <a:pt x="22821" y="2469489"/>
                  </a:cubicBezTo>
                  <a:cubicBezTo>
                    <a:pt x="8209" y="2454877"/>
                    <a:pt x="0" y="2435058"/>
                    <a:pt x="0" y="2414393"/>
                  </a:cubicBezTo>
                  <a:lnTo>
                    <a:pt x="0" y="77917"/>
                  </a:lnTo>
                  <a:cubicBezTo>
                    <a:pt x="0" y="57252"/>
                    <a:pt x="8209" y="37434"/>
                    <a:pt x="22821" y="22821"/>
                  </a:cubicBezTo>
                  <a:cubicBezTo>
                    <a:pt x="37434" y="8209"/>
                    <a:pt x="57252" y="0"/>
                    <a:pt x="77917" y="0"/>
                  </a:cubicBezTo>
                  <a:close/>
                </a:path>
              </a:pathLst>
            </a:custGeom>
            <a:solidFill>
              <a:srgbClr val="131B1F">
                <a:alpha val="81961"/>
              </a:srgbClr>
            </a:solidFill>
            <a:ln w="19050" cap="rnd">
              <a:solidFill>
                <a:srgbClr val="FFFFFF">
                  <a:alpha val="81961"/>
                </a:srgbClr>
              </a:solidFill>
              <a:prstDash val="solid"/>
              <a:round/>
            </a:ln>
          </p:spPr>
        </p:sp>
        <p:sp>
          <p:nvSpPr>
            <p:cNvPr name="TextBox 8" id="8"/>
            <p:cNvSpPr txBox="true"/>
            <p:nvPr/>
          </p:nvSpPr>
          <p:spPr>
            <a:xfrm>
              <a:off x="0" y="76200"/>
              <a:ext cx="1907381" cy="2416110"/>
            </a:xfrm>
            <a:prstGeom prst="rect">
              <a:avLst/>
            </a:prstGeom>
          </p:spPr>
          <p:txBody>
            <a:bodyPr anchor="ctr" rtlCol="false" tIns="50800" lIns="50800" bIns="50800" rIns="50800"/>
            <a:lstStyle/>
            <a:p>
              <a:pPr algn="ctr" marL="0" indent="0" lvl="0">
                <a:lnSpc>
                  <a:spcPts val="2048"/>
                </a:lnSpc>
                <a:spcBef>
                  <a:spcPct val="0"/>
                </a:spcBef>
              </a:pPr>
            </a:p>
          </p:txBody>
        </p:sp>
      </p:grpSp>
      <p:grpSp>
        <p:nvGrpSpPr>
          <p:cNvPr name="Group 9" id="9"/>
          <p:cNvGrpSpPr/>
          <p:nvPr/>
        </p:nvGrpSpPr>
        <p:grpSpPr>
          <a:xfrm rot="0">
            <a:off x="7149164" y="2323467"/>
            <a:ext cx="4853540" cy="5234872"/>
            <a:chOff x="0" y="0"/>
            <a:chExt cx="1826885" cy="1970420"/>
          </a:xfrm>
        </p:grpSpPr>
        <p:sp>
          <p:nvSpPr>
            <p:cNvPr name="Freeform 10" id="10"/>
            <p:cNvSpPr/>
            <p:nvPr/>
          </p:nvSpPr>
          <p:spPr>
            <a:xfrm flipH="false" flipV="false" rot="0">
              <a:off x="0" y="0"/>
              <a:ext cx="1826885" cy="1970420"/>
            </a:xfrm>
            <a:custGeom>
              <a:avLst/>
              <a:gdLst/>
              <a:ahLst/>
              <a:cxnLst/>
              <a:rect r="r" b="b" t="t" l="l"/>
              <a:pathLst>
                <a:path h="1970420" w="1826885">
                  <a:moveTo>
                    <a:pt x="81350" y="0"/>
                  </a:moveTo>
                  <a:lnTo>
                    <a:pt x="1745535" y="0"/>
                  </a:lnTo>
                  <a:cubicBezTo>
                    <a:pt x="1790464" y="0"/>
                    <a:pt x="1826885" y="36422"/>
                    <a:pt x="1826885" y="81350"/>
                  </a:cubicBezTo>
                  <a:lnTo>
                    <a:pt x="1826885" y="1889069"/>
                  </a:lnTo>
                  <a:cubicBezTo>
                    <a:pt x="1826885" y="1933998"/>
                    <a:pt x="1790464" y="1970420"/>
                    <a:pt x="1745535" y="1970420"/>
                  </a:cubicBezTo>
                  <a:lnTo>
                    <a:pt x="81350" y="1970420"/>
                  </a:lnTo>
                  <a:cubicBezTo>
                    <a:pt x="59775" y="1970420"/>
                    <a:pt x="39083" y="1961849"/>
                    <a:pt x="23827" y="1946593"/>
                  </a:cubicBezTo>
                  <a:cubicBezTo>
                    <a:pt x="8571" y="1931336"/>
                    <a:pt x="0" y="1910645"/>
                    <a:pt x="0" y="1889069"/>
                  </a:cubicBezTo>
                  <a:lnTo>
                    <a:pt x="0" y="81350"/>
                  </a:lnTo>
                  <a:cubicBezTo>
                    <a:pt x="0" y="36422"/>
                    <a:pt x="36422" y="0"/>
                    <a:pt x="81350" y="0"/>
                  </a:cubicBezTo>
                  <a:close/>
                </a:path>
              </a:pathLst>
            </a:custGeom>
            <a:solidFill>
              <a:srgbClr val="131B1F">
                <a:alpha val="81961"/>
              </a:srgbClr>
            </a:solidFill>
            <a:ln w="19050" cap="rnd">
              <a:solidFill>
                <a:srgbClr val="FFFFFF">
                  <a:alpha val="81961"/>
                </a:srgbClr>
              </a:solidFill>
              <a:prstDash val="solid"/>
              <a:round/>
            </a:ln>
          </p:spPr>
        </p:sp>
        <p:sp>
          <p:nvSpPr>
            <p:cNvPr name="TextBox 11" id="11"/>
            <p:cNvSpPr txBox="true"/>
            <p:nvPr/>
          </p:nvSpPr>
          <p:spPr>
            <a:xfrm>
              <a:off x="0" y="76200"/>
              <a:ext cx="1826885" cy="1894220"/>
            </a:xfrm>
            <a:prstGeom prst="rect">
              <a:avLst/>
            </a:prstGeom>
          </p:spPr>
          <p:txBody>
            <a:bodyPr anchor="ctr" rtlCol="false" tIns="50800" lIns="50800" bIns="50800" rIns="50800"/>
            <a:lstStyle/>
            <a:p>
              <a:pPr algn="ctr" marL="0" indent="0" lvl="0">
                <a:lnSpc>
                  <a:spcPts val="2048"/>
                </a:lnSpc>
                <a:spcBef>
                  <a:spcPct val="0"/>
                </a:spcBef>
              </a:pPr>
            </a:p>
          </p:txBody>
        </p:sp>
      </p:grpSp>
      <p:grpSp>
        <p:nvGrpSpPr>
          <p:cNvPr name="Group 12" id="12"/>
          <p:cNvGrpSpPr/>
          <p:nvPr/>
        </p:nvGrpSpPr>
        <p:grpSpPr>
          <a:xfrm rot="0">
            <a:off x="13307629" y="4341707"/>
            <a:ext cx="4277195" cy="2276049"/>
            <a:chOff x="0" y="0"/>
            <a:chExt cx="1609948" cy="856711"/>
          </a:xfrm>
        </p:grpSpPr>
        <p:sp>
          <p:nvSpPr>
            <p:cNvPr name="Freeform 13" id="13"/>
            <p:cNvSpPr/>
            <p:nvPr/>
          </p:nvSpPr>
          <p:spPr>
            <a:xfrm flipH="false" flipV="false" rot="0">
              <a:off x="0" y="0"/>
              <a:ext cx="1609948" cy="856711"/>
            </a:xfrm>
            <a:custGeom>
              <a:avLst/>
              <a:gdLst/>
              <a:ahLst/>
              <a:cxnLst/>
              <a:rect r="r" b="b" t="t" l="l"/>
              <a:pathLst>
                <a:path h="856711" w="1609948">
                  <a:moveTo>
                    <a:pt x="92312" y="0"/>
                  </a:moveTo>
                  <a:lnTo>
                    <a:pt x="1517635" y="0"/>
                  </a:lnTo>
                  <a:cubicBezTo>
                    <a:pt x="1568618" y="0"/>
                    <a:pt x="1609948" y="41330"/>
                    <a:pt x="1609948" y="92312"/>
                  </a:cubicBezTo>
                  <a:lnTo>
                    <a:pt x="1609948" y="764398"/>
                  </a:lnTo>
                  <a:cubicBezTo>
                    <a:pt x="1609948" y="815381"/>
                    <a:pt x="1568618" y="856711"/>
                    <a:pt x="1517635" y="856711"/>
                  </a:cubicBezTo>
                  <a:lnTo>
                    <a:pt x="92312" y="856711"/>
                  </a:lnTo>
                  <a:cubicBezTo>
                    <a:pt x="41330" y="856711"/>
                    <a:pt x="0" y="815381"/>
                    <a:pt x="0" y="764398"/>
                  </a:cubicBezTo>
                  <a:lnTo>
                    <a:pt x="0" y="92312"/>
                  </a:lnTo>
                  <a:cubicBezTo>
                    <a:pt x="0" y="41330"/>
                    <a:pt x="41330" y="0"/>
                    <a:pt x="92312" y="0"/>
                  </a:cubicBezTo>
                  <a:close/>
                </a:path>
              </a:pathLst>
            </a:custGeom>
            <a:solidFill>
              <a:srgbClr val="131B1F">
                <a:alpha val="81961"/>
              </a:srgbClr>
            </a:solidFill>
            <a:ln w="19050" cap="rnd">
              <a:solidFill>
                <a:srgbClr val="FFFFFF">
                  <a:alpha val="81961"/>
                </a:srgbClr>
              </a:solidFill>
              <a:prstDash val="solid"/>
              <a:round/>
            </a:ln>
          </p:spPr>
        </p:sp>
        <p:sp>
          <p:nvSpPr>
            <p:cNvPr name="TextBox 14" id="14"/>
            <p:cNvSpPr txBox="true"/>
            <p:nvPr/>
          </p:nvSpPr>
          <p:spPr>
            <a:xfrm>
              <a:off x="0" y="76200"/>
              <a:ext cx="1609948" cy="780511"/>
            </a:xfrm>
            <a:prstGeom prst="rect">
              <a:avLst/>
            </a:prstGeom>
          </p:spPr>
          <p:txBody>
            <a:bodyPr anchor="ctr" rtlCol="false" tIns="50800" lIns="50800" bIns="50800" rIns="50800"/>
            <a:lstStyle/>
            <a:p>
              <a:pPr algn="ctr" marL="0" indent="0" lvl="0">
                <a:lnSpc>
                  <a:spcPts val="2048"/>
                </a:lnSpc>
                <a:spcBef>
                  <a:spcPct val="0"/>
                </a:spcBef>
              </a:pPr>
            </a:p>
          </p:txBody>
        </p:sp>
      </p:grpSp>
      <p:grpSp>
        <p:nvGrpSpPr>
          <p:cNvPr name="Group 15" id="15"/>
          <p:cNvGrpSpPr/>
          <p:nvPr/>
        </p:nvGrpSpPr>
        <p:grpSpPr>
          <a:xfrm rot="-5400000">
            <a:off x="6337985" y="4658475"/>
            <a:ext cx="569290" cy="388258"/>
            <a:chOff x="0" y="0"/>
            <a:chExt cx="2771140" cy="1889930"/>
          </a:xfrm>
        </p:grpSpPr>
        <p:sp>
          <p:nvSpPr>
            <p:cNvPr name="Freeform 16" id="16"/>
            <p:cNvSpPr/>
            <p:nvPr/>
          </p:nvSpPr>
          <p:spPr>
            <a:xfrm flipH="false" flipV="false" rot="0">
              <a:off x="0" y="0"/>
              <a:ext cx="2771140" cy="1889930"/>
            </a:xfrm>
            <a:custGeom>
              <a:avLst/>
              <a:gdLst/>
              <a:ahLst/>
              <a:cxnLst/>
              <a:rect r="r" b="b" t="t" l="l"/>
              <a:pathLst>
                <a:path h="1889930" w="2771140">
                  <a:moveTo>
                    <a:pt x="0" y="0"/>
                  </a:moveTo>
                  <a:lnTo>
                    <a:pt x="0" y="986960"/>
                  </a:lnTo>
                  <a:lnTo>
                    <a:pt x="1384300" y="1889930"/>
                  </a:lnTo>
                  <a:lnTo>
                    <a:pt x="2771140" y="986960"/>
                  </a:lnTo>
                  <a:lnTo>
                    <a:pt x="2771140" y="0"/>
                  </a:lnTo>
                  <a:close/>
                </a:path>
              </a:pathLst>
            </a:custGeom>
            <a:solidFill>
              <a:srgbClr val="F1F2F2"/>
            </a:solidFill>
          </p:spPr>
        </p:sp>
      </p:grpSp>
      <p:grpSp>
        <p:nvGrpSpPr>
          <p:cNvPr name="Group 17" id="17"/>
          <p:cNvGrpSpPr/>
          <p:nvPr/>
        </p:nvGrpSpPr>
        <p:grpSpPr>
          <a:xfrm rot="-5400000">
            <a:off x="12245563" y="4658475"/>
            <a:ext cx="569290" cy="388258"/>
            <a:chOff x="0" y="0"/>
            <a:chExt cx="2771140" cy="1889930"/>
          </a:xfrm>
        </p:grpSpPr>
        <p:sp>
          <p:nvSpPr>
            <p:cNvPr name="Freeform 18" id="18"/>
            <p:cNvSpPr/>
            <p:nvPr/>
          </p:nvSpPr>
          <p:spPr>
            <a:xfrm flipH="false" flipV="false" rot="0">
              <a:off x="0" y="0"/>
              <a:ext cx="2771140" cy="1889930"/>
            </a:xfrm>
            <a:custGeom>
              <a:avLst/>
              <a:gdLst/>
              <a:ahLst/>
              <a:cxnLst/>
              <a:rect r="r" b="b" t="t" l="l"/>
              <a:pathLst>
                <a:path h="1889930" w="2771140">
                  <a:moveTo>
                    <a:pt x="0" y="0"/>
                  </a:moveTo>
                  <a:lnTo>
                    <a:pt x="0" y="986960"/>
                  </a:lnTo>
                  <a:lnTo>
                    <a:pt x="1384300" y="1889930"/>
                  </a:lnTo>
                  <a:lnTo>
                    <a:pt x="2771140" y="986960"/>
                  </a:lnTo>
                  <a:lnTo>
                    <a:pt x="2771140" y="0"/>
                  </a:lnTo>
                  <a:close/>
                </a:path>
              </a:pathLst>
            </a:custGeom>
            <a:solidFill>
              <a:srgbClr val="F1F2F2"/>
            </a:solidFill>
          </p:spPr>
        </p:sp>
      </p:grpSp>
      <p:sp>
        <p:nvSpPr>
          <p:cNvPr name="Freeform 19" id="19"/>
          <p:cNvSpPr/>
          <p:nvPr/>
        </p:nvSpPr>
        <p:spPr>
          <a:xfrm flipH="false" flipV="false" rot="0">
            <a:off x="2406568" y="7502165"/>
            <a:ext cx="3081938" cy="1214097"/>
          </a:xfrm>
          <a:custGeom>
            <a:avLst/>
            <a:gdLst/>
            <a:ahLst/>
            <a:cxnLst/>
            <a:rect r="r" b="b" t="t" l="l"/>
            <a:pathLst>
              <a:path h="1214097" w="3081938">
                <a:moveTo>
                  <a:pt x="0" y="0"/>
                </a:moveTo>
                <a:lnTo>
                  <a:pt x="3081937" y="0"/>
                </a:lnTo>
                <a:lnTo>
                  <a:pt x="3081937" y="1214097"/>
                </a:lnTo>
                <a:lnTo>
                  <a:pt x="0" y="1214097"/>
                </a:lnTo>
                <a:lnTo>
                  <a:pt x="0" y="0"/>
                </a:lnTo>
                <a:close/>
              </a:path>
            </a:pathLst>
          </a:custGeom>
          <a:blipFill>
            <a:blip r:embed="rId3"/>
            <a:stretch>
              <a:fillRect l="-50454" t="-231203" r="-14089" b="-196707"/>
            </a:stretch>
          </a:blipFill>
        </p:spPr>
      </p:sp>
      <p:sp>
        <p:nvSpPr>
          <p:cNvPr name="Freeform 20" id="20"/>
          <p:cNvSpPr/>
          <p:nvPr/>
        </p:nvSpPr>
        <p:spPr>
          <a:xfrm flipH="false" flipV="false" rot="0">
            <a:off x="13536229" y="3165713"/>
            <a:ext cx="561560" cy="563311"/>
          </a:xfrm>
          <a:custGeom>
            <a:avLst/>
            <a:gdLst/>
            <a:ahLst/>
            <a:cxnLst/>
            <a:rect r="r" b="b" t="t" l="l"/>
            <a:pathLst>
              <a:path h="563311" w="561560">
                <a:moveTo>
                  <a:pt x="0" y="0"/>
                </a:moveTo>
                <a:lnTo>
                  <a:pt x="561560" y="0"/>
                </a:lnTo>
                <a:lnTo>
                  <a:pt x="561560" y="563311"/>
                </a:lnTo>
                <a:lnTo>
                  <a:pt x="0" y="563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7402286" y="2499294"/>
            <a:ext cx="4427027" cy="4668520"/>
          </a:xfrm>
          <a:prstGeom prst="rect">
            <a:avLst/>
          </a:prstGeom>
        </p:spPr>
        <p:txBody>
          <a:bodyPr anchor="t" rtlCol="false" tIns="0" lIns="0" bIns="0" rIns="0">
            <a:spAutoFit/>
          </a:bodyPr>
          <a:lstStyle/>
          <a:p>
            <a:pPr algn="l">
              <a:lnSpc>
                <a:spcPts val="3079"/>
              </a:lnSpc>
            </a:pPr>
            <a:r>
              <a:rPr lang="en-US" sz="2199">
                <a:solidFill>
                  <a:srgbClr val="FDFDFD"/>
                </a:solidFill>
                <a:latin typeface="Alef Bold"/>
                <a:ea typeface="Alef Bold"/>
                <a:cs typeface="Alef Bold"/>
                <a:sym typeface="Alef Bold"/>
              </a:rPr>
              <a:t>"</a:t>
            </a:r>
            <a:r>
              <a:rPr lang="en-US" sz="2199">
                <a:solidFill>
                  <a:srgbClr val="C6D8FB"/>
                </a:solidFill>
                <a:latin typeface="Alef Bold"/>
                <a:ea typeface="Alef Bold"/>
                <a:cs typeface="Alef Bold"/>
                <a:sym typeface="Alef Bold"/>
              </a:rPr>
              <a:t>maybe,</a:t>
            </a:r>
            <a:r>
              <a:rPr lang="en-US" sz="2199" strike="noStrike" u="none">
                <a:solidFill>
                  <a:srgbClr val="C6D8FB"/>
                </a:solidFill>
                <a:latin typeface="Alef Bold"/>
                <a:ea typeface="Alef Bold"/>
                <a:cs typeface="Alef Bold"/>
                <a:sym typeface="Alef Bold"/>
              </a:rPr>
              <a:t> maybe, maybe</a:t>
            </a:r>
            <a:r>
              <a:rPr lang="en-US" sz="2199" strike="noStrike" u="none">
                <a:solidFill>
                  <a:srgbClr val="FDFDFD"/>
                </a:solidFill>
                <a:latin typeface="Alef Bold"/>
                <a:ea typeface="Alef Bold"/>
                <a:cs typeface="Alef Bold"/>
                <a:sym typeface="Alef Bold"/>
              </a:rPr>
              <a:t>, this is the sailing yacht </a:t>
            </a:r>
            <a:r>
              <a:rPr lang="en-US" sz="2199" strike="noStrike" u="none">
                <a:solidFill>
                  <a:srgbClr val="C6D8FB"/>
                </a:solidFill>
                <a:latin typeface="Alef Bold"/>
                <a:ea typeface="Alef Bold"/>
                <a:cs typeface="Alef Bold"/>
                <a:sym typeface="Alef Bold"/>
              </a:rPr>
              <a:t>with this boat out </a:t>
            </a:r>
            <a:r>
              <a:rPr lang="en-US" sz="2199" strike="noStrike" u="none">
                <a:solidFill>
                  <a:srgbClr val="C6D8FB"/>
                </a:solidFill>
                <a:latin typeface="Alef Bold"/>
                <a:ea typeface="Alef Bold"/>
                <a:cs typeface="Alef Bold"/>
                <a:sym typeface="Alef Bold"/>
              </a:rPr>
              <a:t>h</a:t>
            </a:r>
            <a:r>
              <a:rPr lang="en-US" sz="2199" strike="noStrike" u="none">
                <a:solidFill>
                  <a:srgbClr val="C6D8FB"/>
                </a:solidFill>
                <a:latin typeface="Alef Bold"/>
                <a:ea typeface="Alef Bold"/>
                <a:cs typeface="Alef Bold"/>
                <a:sym typeface="Alef Bold"/>
              </a:rPr>
              <a:t>ere</a:t>
            </a:r>
            <a:r>
              <a:rPr lang="en-US" sz="2199" strike="noStrike" u="none">
                <a:solidFill>
                  <a:srgbClr val="FDFDFD"/>
                </a:solidFill>
                <a:latin typeface="Alef Bold"/>
                <a:ea typeface="Alef Bold"/>
                <a:cs typeface="Alef Bold"/>
                <a:sym typeface="Alef Bold"/>
              </a:rPr>
              <a:t>, </a:t>
            </a:r>
            <a:r>
              <a:rPr lang="en-US" sz="2199" strike="noStrike" u="none">
                <a:solidFill>
                  <a:srgbClr val="FDFDFD"/>
                </a:solidFill>
                <a:latin typeface="Alef Bold"/>
                <a:ea typeface="Alef Bold"/>
                <a:cs typeface="Alef Bold"/>
                <a:sym typeface="Alef Bold"/>
              </a:rPr>
              <a:t>I'</a:t>
            </a:r>
            <a:r>
              <a:rPr lang="en-US" sz="2199" strike="noStrike" u="none">
                <a:solidFill>
                  <a:srgbClr val="FDFDFD"/>
                </a:solidFill>
                <a:latin typeface="Alef Bold"/>
                <a:ea typeface="Alef Bold"/>
                <a:cs typeface="Alef Bold"/>
                <a:sym typeface="Alef Bold"/>
              </a:rPr>
              <a:t>m having a steering failure, can't control the rudder, we drifting, I've surfaced through, I </a:t>
            </a:r>
            <a:r>
              <a:rPr lang="en-US" sz="2199" strike="noStrike" u="none">
                <a:solidFill>
                  <a:srgbClr val="FFFFFF"/>
                </a:solidFill>
                <a:latin typeface="Alef Bold"/>
                <a:ea typeface="Alef Bold"/>
                <a:cs typeface="Alef Bold"/>
                <a:sym typeface="Alef Bold"/>
              </a:rPr>
              <a:t>kick hard</a:t>
            </a:r>
            <a:r>
              <a:rPr lang="en-US" sz="2199" strike="noStrike" u="none">
                <a:solidFill>
                  <a:srgbClr val="FDFDFD"/>
                </a:solidFill>
                <a:latin typeface="Alef Bold"/>
                <a:ea typeface="Alef Bold"/>
                <a:cs typeface="Alef Bold"/>
                <a:sym typeface="Alef Bold"/>
              </a:rPr>
              <a:t>, I'm about 10 </a:t>
            </a:r>
            <a:r>
              <a:rPr lang="en-US" sz="2199" strike="noStrike" u="none">
                <a:solidFill>
                  <a:srgbClr val="C6D8FB"/>
                </a:solidFill>
                <a:latin typeface="Alef Bold"/>
                <a:ea typeface="Alef Bold"/>
                <a:cs typeface="Alef Bold"/>
                <a:sym typeface="Alef Bold"/>
              </a:rPr>
              <a:t>knots, I come out as off as sure</a:t>
            </a:r>
            <a:r>
              <a:rPr lang="en-US" sz="2199" strike="noStrike" u="none">
                <a:solidFill>
                  <a:srgbClr val="FDFDFD"/>
                </a:solidFill>
                <a:latin typeface="Alef Bold"/>
                <a:ea typeface="Alef Bold"/>
                <a:cs typeface="Alef Bold"/>
                <a:sym typeface="Alef Bold"/>
              </a:rPr>
              <a:t> I think, where those are, can't laugh, waves are like three meters, and it's, I'm getting in the, we've got a few people on board, need the systems right right now, over."</a:t>
            </a:r>
          </a:p>
        </p:txBody>
      </p:sp>
      <p:sp>
        <p:nvSpPr>
          <p:cNvPr name="TextBox 22" id="22"/>
          <p:cNvSpPr txBox="true"/>
          <p:nvPr/>
        </p:nvSpPr>
        <p:spPr>
          <a:xfrm rot="0">
            <a:off x="1028700" y="373063"/>
            <a:ext cx="3395514" cy="1149350"/>
          </a:xfrm>
          <a:prstGeom prst="rect">
            <a:avLst/>
          </a:prstGeom>
        </p:spPr>
        <p:txBody>
          <a:bodyPr anchor="t" rtlCol="false" tIns="0" lIns="0" bIns="0" rIns="0">
            <a:spAutoFit/>
          </a:bodyPr>
          <a:lstStyle/>
          <a:p>
            <a:pPr algn="ctr" rtl="true">
              <a:lnSpc>
                <a:spcPts val="9100"/>
              </a:lnSpc>
            </a:pPr>
            <a:r>
              <a:rPr lang="en-US" b="true" sz="6500">
                <a:solidFill>
                  <a:srgbClr val="FFFFFF"/>
                </a:solidFill>
                <a:latin typeface="Arimo Bold"/>
                <a:ea typeface="Arimo Bold"/>
                <a:cs typeface="Arimo Bold"/>
                <a:sym typeface="Arimo Bold"/>
              </a:rPr>
              <a:t>Exam</a:t>
            </a:r>
            <a:r>
              <a:rPr lang="en-US" b="true" sz="6500">
                <a:solidFill>
                  <a:srgbClr val="FFFFFF"/>
                </a:solidFill>
                <a:latin typeface="Arimo Bold"/>
                <a:ea typeface="Arimo Bold"/>
                <a:cs typeface="Arimo Bold"/>
                <a:sym typeface="Arimo Bold"/>
              </a:rPr>
              <a:t>ple</a:t>
            </a:r>
          </a:p>
        </p:txBody>
      </p:sp>
      <p:sp>
        <p:nvSpPr>
          <p:cNvPr name="TextBox 23" id="23"/>
          <p:cNvSpPr txBox="true"/>
          <p:nvPr/>
        </p:nvSpPr>
        <p:spPr>
          <a:xfrm rot="0">
            <a:off x="1268261" y="2499294"/>
            <a:ext cx="4599235" cy="5059045"/>
          </a:xfrm>
          <a:prstGeom prst="rect">
            <a:avLst/>
          </a:prstGeom>
        </p:spPr>
        <p:txBody>
          <a:bodyPr anchor="t" rtlCol="false" tIns="0" lIns="0" bIns="0" rIns="0">
            <a:spAutoFit/>
          </a:bodyPr>
          <a:lstStyle/>
          <a:p>
            <a:pPr algn="l">
              <a:lnSpc>
                <a:spcPts val="3079"/>
              </a:lnSpc>
            </a:pPr>
            <a:r>
              <a:rPr lang="en-US" sz="2199">
                <a:solidFill>
                  <a:srgbClr val="FDFDFD"/>
                </a:solidFill>
                <a:latin typeface="Alef Bold"/>
                <a:ea typeface="Alef Bold"/>
                <a:cs typeface="Alef Bold"/>
                <a:sym typeface="Alef Bold"/>
              </a:rPr>
              <a:t>"</a:t>
            </a:r>
            <a:r>
              <a:rPr lang="en-US" sz="2199">
                <a:solidFill>
                  <a:srgbClr val="C6D8FB"/>
                </a:solidFill>
                <a:latin typeface="Alef Bold"/>
                <a:ea typeface="Alef Bold"/>
                <a:cs typeface="Alef Bold"/>
                <a:sym typeface="Alef Bold"/>
              </a:rPr>
              <a:t>MAYDAY,</a:t>
            </a:r>
            <a:r>
              <a:rPr lang="en-US" sz="2199" strike="noStrike" u="none">
                <a:solidFill>
                  <a:srgbClr val="C6D8FB"/>
                </a:solidFill>
                <a:latin typeface="Alef Bold"/>
                <a:ea typeface="Alef Bold"/>
                <a:cs typeface="Alef Bold"/>
                <a:sym typeface="Alef Bold"/>
              </a:rPr>
              <a:t> MAYDAY, MAYDAY!</a:t>
            </a:r>
            <a:r>
              <a:rPr lang="en-US" sz="2199" strike="noStrike" u="none">
                <a:solidFill>
                  <a:srgbClr val="FDFDFD"/>
                </a:solidFill>
                <a:latin typeface="Alef Bold"/>
                <a:ea typeface="Alef Bold"/>
                <a:cs typeface="Alef Bold"/>
                <a:sym typeface="Alef Bold"/>
              </a:rPr>
              <a:t> This is t</a:t>
            </a:r>
            <a:r>
              <a:rPr lang="en-US" sz="2199" strike="noStrike" u="none">
                <a:solidFill>
                  <a:srgbClr val="FDFDFD"/>
                </a:solidFill>
                <a:latin typeface="Alef Bold"/>
                <a:ea typeface="Alef Bold"/>
                <a:cs typeface="Alef Bold"/>
                <a:sym typeface="Alef Bold"/>
              </a:rPr>
              <a:t>h</a:t>
            </a:r>
            <a:r>
              <a:rPr lang="en-US" sz="2199" strike="noStrike" u="none">
                <a:solidFill>
                  <a:srgbClr val="FDFDFD"/>
                </a:solidFill>
                <a:latin typeface="Alef Bold"/>
                <a:ea typeface="Alef Bold"/>
                <a:cs typeface="Alef Bold"/>
                <a:sym typeface="Alef Bold"/>
              </a:rPr>
              <a:t>e s</a:t>
            </a:r>
            <a:r>
              <a:rPr lang="en-US" sz="2199" strike="noStrike" u="none">
                <a:solidFill>
                  <a:srgbClr val="FDFDFD"/>
                </a:solidFill>
                <a:latin typeface="Alef Bold"/>
                <a:ea typeface="Alef Bold"/>
                <a:cs typeface="Alef Bold"/>
                <a:sym typeface="Alef Bold"/>
              </a:rPr>
              <a:t>ail</a:t>
            </a:r>
            <a:r>
              <a:rPr lang="en-US" sz="2199" strike="noStrike" u="none">
                <a:solidFill>
                  <a:srgbClr val="FDFDFD"/>
                </a:solidFill>
                <a:latin typeface="Alef Bold"/>
                <a:ea typeface="Alef Bold"/>
                <a:cs typeface="Alef Bold"/>
                <a:sym typeface="Alef Bold"/>
              </a:rPr>
              <a:t>ing </a:t>
            </a:r>
            <a:r>
              <a:rPr lang="en-US" sz="2199" strike="noStrike" u="none">
                <a:solidFill>
                  <a:srgbClr val="FDFDFD"/>
                </a:solidFill>
                <a:latin typeface="Alef Bold"/>
                <a:ea typeface="Alef Bold"/>
                <a:cs typeface="Alef Bold"/>
                <a:sym typeface="Alef Bold"/>
              </a:rPr>
              <a:t>yach</a:t>
            </a:r>
            <a:r>
              <a:rPr lang="en-US" sz="2199" strike="noStrike" u="none">
                <a:solidFill>
                  <a:srgbClr val="FDFDFD"/>
                </a:solidFill>
                <a:latin typeface="Alef Bold"/>
                <a:ea typeface="Alef Bold"/>
                <a:cs typeface="Alef Bold"/>
                <a:sym typeface="Alef Bold"/>
              </a:rPr>
              <a:t>t </a:t>
            </a:r>
            <a:r>
              <a:rPr lang="en-US" sz="2199" strike="noStrike" u="none">
                <a:solidFill>
                  <a:srgbClr val="C6D8FB"/>
                </a:solidFill>
                <a:latin typeface="Alef Bold"/>
                <a:ea typeface="Alef Bold"/>
                <a:cs typeface="Alef Bold"/>
                <a:sym typeface="Alef Bold"/>
              </a:rPr>
              <a:t>'Win</a:t>
            </a:r>
            <a:r>
              <a:rPr lang="en-US" sz="2199" strike="noStrike" u="none">
                <a:solidFill>
                  <a:srgbClr val="C6D8FB"/>
                </a:solidFill>
                <a:latin typeface="Alef Bold"/>
                <a:ea typeface="Alef Bold"/>
                <a:cs typeface="Alef Bold"/>
                <a:sym typeface="Alef Bold"/>
              </a:rPr>
              <a:t>d</a:t>
            </a:r>
            <a:r>
              <a:rPr lang="en-US" sz="2199" strike="noStrike" u="none">
                <a:solidFill>
                  <a:srgbClr val="C6D8FB"/>
                </a:solidFill>
                <a:latin typeface="Alef Bold"/>
                <a:ea typeface="Alef Bold"/>
                <a:cs typeface="Alef Bold"/>
                <a:sym typeface="Alef Bold"/>
              </a:rPr>
              <a:t> Wh</a:t>
            </a:r>
            <a:r>
              <a:rPr lang="en-US" sz="2199" strike="noStrike" u="none">
                <a:solidFill>
                  <a:srgbClr val="C6D8FB"/>
                </a:solidFill>
                <a:latin typeface="Alef Bold"/>
                <a:ea typeface="Alef Bold"/>
                <a:cs typeface="Alef Bold"/>
                <a:sym typeface="Alef Bold"/>
              </a:rPr>
              <a:t>isper'</a:t>
            </a:r>
            <a:r>
              <a:rPr lang="en-US" sz="2199" strike="noStrike" u="none">
                <a:solidFill>
                  <a:srgbClr val="FDFDFD"/>
                </a:solidFill>
                <a:latin typeface="Alef Bold"/>
                <a:ea typeface="Alef Bold"/>
                <a:cs typeface="Alef Bold"/>
                <a:sym typeface="Alef Bold"/>
              </a:rPr>
              <a:t>,</a:t>
            </a:r>
            <a:r>
              <a:rPr lang="en-US" sz="2199" strike="noStrike" u="none">
                <a:solidFill>
                  <a:srgbClr val="FDFDFD"/>
                </a:solidFill>
                <a:latin typeface="Alef Bold"/>
                <a:ea typeface="Alef Bold"/>
                <a:cs typeface="Alef Bold"/>
                <a:sym typeface="Alef Bold"/>
              </a:rPr>
              <a:t> uh,</a:t>
            </a:r>
            <a:r>
              <a:rPr lang="en-US" sz="2199" strike="noStrike" u="none">
                <a:solidFill>
                  <a:srgbClr val="FDFDFD"/>
                </a:solidFill>
                <a:latin typeface="Alef Bold"/>
                <a:ea typeface="Alef Bold"/>
                <a:cs typeface="Alef Bold"/>
                <a:sym typeface="Alef Bold"/>
              </a:rPr>
              <a:t> w</a:t>
            </a:r>
            <a:r>
              <a:rPr lang="en-US" sz="2199" strike="noStrike" u="none">
                <a:solidFill>
                  <a:srgbClr val="FDFDFD"/>
                </a:solidFill>
                <a:latin typeface="Alef Bold"/>
                <a:ea typeface="Alef Bold"/>
                <a:cs typeface="Alef Bold"/>
                <a:sym typeface="Alef Bold"/>
              </a:rPr>
              <a:t>e're,</a:t>
            </a:r>
            <a:r>
              <a:rPr lang="en-US" sz="2199" strike="noStrike" u="none">
                <a:solidFill>
                  <a:srgbClr val="FDFDFD"/>
                </a:solidFill>
                <a:latin typeface="Alef Bold"/>
                <a:ea typeface="Alef Bold"/>
                <a:cs typeface="Alef Bold"/>
                <a:sym typeface="Alef Bold"/>
              </a:rPr>
              <a:t> </a:t>
            </a:r>
            <a:r>
              <a:rPr lang="en-US" sz="2199" strike="noStrike" u="none">
                <a:solidFill>
                  <a:srgbClr val="FDFDFD"/>
                </a:solidFill>
                <a:latin typeface="Alef Bold"/>
                <a:ea typeface="Alef Bold"/>
                <a:cs typeface="Alef Bold"/>
                <a:sym typeface="Alef Bold"/>
              </a:rPr>
              <a:t>um, h</a:t>
            </a:r>
            <a:r>
              <a:rPr lang="en-US" sz="2199" strike="noStrike" u="none">
                <a:solidFill>
                  <a:srgbClr val="FDFDFD"/>
                </a:solidFill>
                <a:latin typeface="Alef Bold"/>
                <a:ea typeface="Alef Bold"/>
                <a:cs typeface="Alef Bold"/>
                <a:sym typeface="Alef Bold"/>
              </a:rPr>
              <a:t>avi</a:t>
            </a:r>
            <a:r>
              <a:rPr lang="en-US" sz="2199" strike="noStrike" u="none">
                <a:solidFill>
                  <a:srgbClr val="FDFDFD"/>
                </a:solidFill>
                <a:latin typeface="Alef Bold"/>
                <a:ea typeface="Alef Bold"/>
                <a:cs typeface="Alef Bold"/>
                <a:sym typeface="Alef Bold"/>
              </a:rPr>
              <a:t>ng a stee</a:t>
            </a:r>
            <a:r>
              <a:rPr lang="en-US" sz="2199" strike="noStrike" u="none">
                <a:solidFill>
                  <a:srgbClr val="FDFDFD"/>
                </a:solidFill>
                <a:latin typeface="Alef Bold"/>
                <a:ea typeface="Alef Bold"/>
                <a:cs typeface="Alef Bold"/>
                <a:sym typeface="Alef Bold"/>
              </a:rPr>
              <a:t>r</a:t>
            </a:r>
            <a:r>
              <a:rPr lang="en-US" sz="2199" strike="noStrike" u="none">
                <a:solidFill>
                  <a:srgbClr val="FDFDFD"/>
                </a:solidFill>
                <a:latin typeface="Alef Bold"/>
                <a:ea typeface="Alef Bold"/>
                <a:cs typeface="Alef Bold"/>
                <a:sym typeface="Alef Bold"/>
              </a:rPr>
              <a:t>ing failure—can't control the rudder. We're drifting, uh, southeast of, uh, </a:t>
            </a:r>
            <a:r>
              <a:rPr lang="en-US" sz="2199" strike="noStrike" u="none">
                <a:solidFill>
                  <a:srgbClr val="C6D8FB"/>
                </a:solidFill>
                <a:latin typeface="Alef Bold"/>
                <a:ea typeface="Alef Bold"/>
                <a:cs typeface="Alef Bold"/>
                <a:sym typeface="Alef Bold"/>
              </a:rPr>
              <a:t>Cape Cod</a:t>
            </a:r>
            <a:r>
              <a:rPr lang="en-US" sz="2199" strike="noStrike" u="none">
                <a:solidFill>
                  <a:srgbClr val="FDFDFD"/>
                </a:solidFill>
                <a:latin typeface="Alef Bold"/>
                <a:ea typeface="Alef Bold"/>
                <a:cs typeface="Alef Bold"/>
                <a:sym typeface="Alef Bold"/>
              </a:rPr>
              <a:t>, um, about 10 </a:t>
            </a:r>
            <a:r>
              <a:rPr lang="en-US" sz="2199" strike="noStrike" u="none">
                <a:solidFill>
                  <a:srgbClr val="C6D8FB"/>
                </a:solidFill>
                <a:latin typeface="Alef Bold"/>
                <a:ea typeface="Alef Bold"/>
                <a:cs typeface="Alef Bold"/>
                <a:sym typeface="Alef Bold"/>
              </a:rPr>
              <a:t>nautical miles off the shore</a:t>
            </a:r>
            <a:r>
              <a:rPr lang="en-US" sz="2199" strike="noStrike" u="none">
                <a:solidFill>
                  <a:srgbClr val="FDFDFD"/>
                </a:solidFill>
                <a:latin typeface="Alef Bold"/>
                <a:ea typeface="Alef Bold"/>
                <a:cs typeface="Alef Bold"/>
                <a:sym typeface="Alef Bold"/>
              </a:rPr>
              <a:t>, I think. Weather's, uh, kinda rough, waves are, like, 3 meters, and it's, um, getting windy. We've got, uh, three people onboard. Need assistance, like, right now! Over."</a:t>
            </a:r>
          </a:p>
        </p:txBody>
      </p:sp>
      <p:sp>
        <p:nvSpPr>
          <p:cNvPr name="TextBox 24" id="24"/>
          <p:cNvSpPr txBox="true"/>
          <p:nvPr/>
        </p:nvSpPr>
        <p:spPr>
          <a:xfrm rot="0">
            <a:off x="13396261" y="4508514"/>
            <a:ext cx="3864925" cy="1934845"/>
          </a:xfrm>
          <a:prstGeom prst="rect">
            <a:avLst/>
          </a:prstGeom>
        </p:spPr>
        <p:txBody>
          <a:bodyPr anchor="t" rtlCol="false" tIns="0" lIns="0" bIns="0" rIns="0">
            <a:spAutoFit/>
          </a:bodyPr>
          <a:lstStyle/>
          <a:p>
            <a:pPr algn="l" marL="474979" indent="-237490" lvl="1">
              <a:lnSpc>
                <a:spcPts val="3079"/>
              </a:lnSpc>
              <a:buFont typeface="Arial"/>
              <a:buChar char="•"/>
            </a:pPr>
            <a:r>
              <a:rPr lang="en-US" sz="2199" u="sng">
                <a:solidFill>
                  <a:srgbClr val="FDFDFD"/>
                </a:solidFill>
                <a:latin typeface="Alef Bold"/>
                <a:ea typeface="Alef Bold"/>
                <a:cs typeface="Alef Bold"/>
                <a:sym typeface="Alef Bold"/>
              </a:rPr>
              <a:t>Ve</a:t>
            </a:r>
            <a:r>
              <a:rPr lang="en-US" sz="2199" strike="noStrike" u="sng">
                <a:solidFill>
                  <a:srgbClr val="FDFDFD"/>
                </a:solidFill>
                <a:latin typeface="Alef Bold"/>
                <a:ea typeface="Alef Bold"/>
                <a:cs typeface="Alef Bold"/>
                <a:sym typeface="Alef Bold"/>
              </a:rPr>
              <a:t>ssel</a:t>
            </a:r>
            <a:r>
              <a:rPr lang="en-US" sz="2199" strike="noStrike" u="none">
                <a:solidFill>
                  <a:srgbClr val="FDFDFD"/>
                </a:solidFill>
                <a:latin typeface="Alef Bold"/>
                <a:ea typeface="Alef Bold"/>
                <a:cs typeface="Alef Bold"/>
                <a:sym typeface="Alef Bold"/>
              </a:rPr>
              <a:t>: NONE</a:t>
            </a:r>
          </a:p>
          <a:p>
            <a:pPr algn="l" marL="474979" indent="-237490" lvl="1">
              <a:lnSpc>
                <a:spcPts val="3079"/>
              </a:lnSpc>
              <a:buFont typeface="Arial"/>
              <a:buChar char="•"/>
            </a:pPr>
            <a:r>
              <a:rPr lang="en-US" sz="2199" strike="noStrike" u="sng">
                <a:solidFill>
                  <a:srgbClr val="FDFDFD"/>
                </a:solidFill>
                <a:latin typeface="Alef Bold"/>
                <a:ea typeface="Alef Bold"/>
                <a:cs typeface="Alef Bold"/>
                <a:sym typeface="Alef Bold"/>
              </a:rPr>
              <a:t>Location</a:t>
            </a:r>
            <a:r>
              <a:rPr lang="en-US" sz="2199" strike="noStrike" u="none">
                <a:solidFill>
                  <a:srgbClr val="FDFDFD"/>
                </a:solidFill>
                <a:latin typeface="Alef Bold"/>
                <a:ea typeface="Alef Bold"/>
                <a:cs typeface="Alef Bold"/>
                <a:sym typeface="Alef Bold"/>
              </a:rPr>
              <a:t>: NONE</a:t>
            </a:r>
          </a:p>
          <a:p>
            <a:pPr algn="l" marL="474979" indent="-237490" lvl="1">
              <a:lnSpc>
                <a:spcPts val="3079"/>
              </a:lnSpc>
              <a:buFont typeface="Arial"/>
              <a:buChar char="•"/>
            </a:pPr>
            <a:r>
              <a:rPr lang="en-US" sz="2199" strike="noStrike" u="sng">
                <a:solidFill>
                  <a:srgbClr val="FDFDFD"/>
                </a:solidFill>
                <a:latin typeface="Alef Bold"/>
                <a:ea typeface="Alef Bold"/>
                <a:cs typeface="Alef Bold"/>
                <a:sym typeface="Alef Bold"/>
              </a:rPr>
              <a:t>POB</a:t>
            </a:r>
            <a:r>
              <a:rPr lang="en-US" sz="2199" strike="noStrike" u="none">
                <a:solidFill>
                  <a:srgbClr val="FDFDFD"/>
                </a:solidFill>
                <a:latin typeface="Alef Bold"/>
                <a:ea typeface="Alef Bold"/>
                <a:cs typeface="Alef Bold"/>
                <a:sym typeface="Alef Bold"/>
              </a:rPr>
              <a:t>: NONE</a:t>
            </a:r>
          </a:p>
          <a:p>
            <a:pPr algn="l" marL="474979" indent="-237490" lvl="1">
              <a:lnSpc>
                <a:spcPts val="3079"/>
              </a:lnSpc>
              <a:buFont typeface="Arial"/>
              <a:buChar char="•"/>
            </a:pPr>
            <a:r>
              <a:rPr lang="en-US" sz="2199" strike="noStrike" u="sng">
                <a:solidFill>
                  <a:srgbClr val="FDFDFD"/>
                </a:solidFill>
                <a:latin typeface="Alef Bold"/>
                <a:ea typeface="Alef Bold"/>
                <a:cs typeface="Alef Bold"/>
                <a:sym typeface="Alef Bold"/>
              </a:rPr>
              <a:t>Nature</a:t>
            </a:r>
            <a:r>
              <a:rPr lang="en-US" sz="2199" strike="noStrike" u="none">
                <a:solidFill>
                  <a:srgbClr val="FDFDFD"/>
                </a:solidFill>
                <a:latin typeface="Alef Bold"/>
                <a:ea typeface="Alef Bold"/>
                <a:cs typeface="Alef Bold"/>
                <a:sym typeface="Alef Bold"/>
              </a:rPr>
              <a:t>: </a:t>
            </a:r>
            <a:r>
              <a:rPr lang="en-US" sz="2199" strike="noStrike" u="none">
                <a:solidFill>
                  <a:srgbClr val="C6D8FB"/>
                </a:solidFill>
                <a:latin typeface="Alef Bold"/>
                <a:ea typeface="Alef Bold"/>
                <a:cs typeface="Alef Bold"/>
                <a:sym typeface="Alef Bold"/>
              </a:rPr>
              <a:t>Steering failure, drifting</a:t>
            </a:r>
          </a:p>
        </p:txBody>
      </p:sp>
      <p:sp>
        <p:nvSpPr>
          <p:cNvPr name="TextBox 25" id="25"/>
          <p:cNvSpPr txBox="true"/>
          <p:nvPr/>
        </p:nvSpPr>
        <p:spPr>
          <a:xfrm rot="0">
            <a:off x="14097789" y="3274995"/>
            <a:ext cx="1362038" cy="372745"/>
          </a:xfrm>
          <a:prstGeom prst="rect">
            <a:avLst/>
          </a:prstGeom>
        </p:spPr>
        <p:txBody>
          <a:bodyPr anchor="t" rtlCol="false" tIns="0" lIns="0" bIns="0" rIns="0">
            <a:spAutoFit/>
          </a:bodyPr>
          <a:lstStyle/>
          <a:p>
            <a:pPr algn="l" marL="0" indent="0" lvl="1">
              <a:lnSpc>
                <a:spcPts val="3079"/>
              </a:lnSpc>
              <a:spcBef>
                <a:spcPct val="0"/>
              </a:spcBef>
            </a:pPr>
            <a:r>
              <a:rPr lang="en-US" sz="2199">
                <a:solidFill>
                  <a:srgbClr val="E53535"/>
                </a:solidFill>
                <a:latin typeface="Alef Bold"/>
                <a:ea typeface="Alef Bold"/>
                <a:cs typeface="Alef Bold"/>
                <a:sym typeface="Alef Bold"/>
              </a:rPr>
              <a:t> </a:t>
            </a:r>
            <a:r>
              <a:rPr lang="en-US" sz="2199" strike="noStrike" u="none">
                <a:solidFill>
                  <a:srgbClr val="E53535"/>
                </a:solidFill>
                <a:latin typeface="Alef Bold"/>
                <a:ea typeface="Alef Bold"/>
                <a:cs typeface="Alef Bold"/>
                <a:sym typeface="Alef Bold"/>
              </a:rPr>
              <a:t>DISTRESS</a:t>
            </a:r>
          </a:p>
        </p:txBody>
      </p:sp>
      <p:sp>
        <p:nvSpPr>
          <p:cNvPr name="TextBox 26" id="26"/>
          <p:cNvSpPr txBox="true"/>
          <p:nvPr/>
        </p:nvSpPr>
        <p:spPr>
          <a:xfrm rot="0">
            <a:off x="4555294" y="1149667"/>
            <a:ext cx="12913519" cy="372745"/>
          </a:xfrm>
          <a:prstGeom prst="rect">
            <a:avLst/>
          </a:prstGeom>
        </p:spPr>
        <p:txBody>
          <a:bodyPr anchor="t" rtlCol="false" tIns="0" lIns="0" bIns="0" rIns="0">
            <a:spAutoFit/>
          </a:bodyPr>
          <a:lstStyle/>
          <a:p>
            <a:pPr algn="l" marL="0" indent="0" lvl="1">
              <a:lnSpc>
                <a:spcPts val="3079"/>
              </a:lnSpc>
              <a:spcBef>
                <a:spcPct val="0"/>
              </a:spcBef>
            </a:pPr>
            <a:r>
              <a:rPr lang="en-US" sz="2199" strike="noStrike" u="none">
                <a:solidFill>
                  <a:srgbClr val="FDFDFD"/>
                </a:solidFill>
                <a:latin typeface="Alef Bold"/>
                <a:ea typeface="Alef Bold"/>
                <a:cs typeface="Alef Bold"/>
                <a:sym typeface="Alef Bold"/>
              </a:rPr>
              <a:t>real example from dataset - demonstrating how severe ASR errors can be under high noise conditions</a:t>
            </a:r>
          </a:p>
        </p:txBody>
      </p:sp>
      <p:sp>
        <p:nvSpPr>
          <p:cNvPr name="TextBox 27" id="27"/>
          <p:cNvSpPr txBox="true"/>
          <p:nvPr/>
        </p:nvSpPr>
        <p:spPr>
          <a:xfrm rot="0">
            <a:off x="6428501" y="7729790"/>
            <a:ext cx="11454306" cy="1934845"/>
          </a:xfrm>
          <a:prstGeom prst="rect">
            <a:avLst/>
          </a:prstGeom>
        </p:spPr>
        <p:txBody>
          <a:bodyPr anchor="t" rtlCol="false" tIns="0" lIns="0" bIns="0" rIns="0">
            <a:spAutoFit/>
          </a:bodyPr>
          <a:lstStyle/>
          <a:p>
            <a:pPr algn="l" marL="0" indent="0" lvl="1">
              <a:lnSpc>
                <a:spcPts val="3079"/>
              </a:lnSpc>
              <a:spcBef>
                <a:spcPct val="0"/>
              </a:spcBef>
            </a:pPr>
            <a:r>
              <a:rPr lang="en-US" sz="2199" strike="noStrike" u="none">
                <a:solidFill>
                  <a:srgbClr val="FDFDFD"/>
                </a:solidFill>
                <a:latin typeface="Alef Bold"/>
                <a:ea typeface="Alef Bold"/>
                <a:cs typeface="Alef Bold"/>
                <a:sym typeface="Alef Bold"/>
              </a:rPr>
              <a:t>Critical ASR Errors Shown:</a:t>
            </a:r>
          </a:p>
          <a:p>
            <a:pPr algn="l" marL="0" indent="0" lvl="1">
              <a:lnSpc>
                <a:spcPts val="3079"/>
              </a:lnSpc>
              <a:spcBef>
                <a:spcPct val="0"/>
              </a:spcBef>
            </a:pPr>
            <a:r>
              <a:rPr lang="en-US" sz="2199" strike="noStrike" u="none">
                <a:solidFill>
                  <a:srgbClr val="FDFDFD"/>
                </a:solidFill>
                <a:latin typeface="Alef Bold"/>
                <a:ea typeface="Alef Bold"/>
                <a:cs typeface="Alef Bold"/>
                <a:sym typeface="Alef Bold"/>
              </a:rPr>
              <a:t>MAYDAY, MAYDAY, MAYDAY → maybe, maybe, maybe 🔴 (codeword completely lost!)</a:t>
            </a:r>
          </a:p>
          <a:p>
            <a:pPr algn="l" marL="0" indent="0" lvl="1">
              <a:lnSpc>
                <a:spcPts val="3079"/>
              </a:lnSpc>
              <a:spcBef>
                <a:spcPct val="0"/>
              </a:spcBef>
            </a:pPr>
            <a:r>
              <a:rPr lang="en-US" sz="2199" strike="noStrike" u="none">
                <a:solidFill>
                  <a:srgbClr val="FDFDFD"/>
                </a:solidFill>
                <a:latin typeface="Alef Bold"/>
                <a:ea typeface="Alef Bold"/>
                <a:cs typeface="Alef Bold"/>
                <a:sym typeface="Alef Bold"/>
              </a:rPr>
              <a:t>Wind Whisper → with this boat out here (vessel name destroyed)</a:t>
            </a:r>
          </a:p>
          <a:p>
            <a:pPr algn="l" marL="0" indent="0" lvl="1">
              <a:lnSpc>
                <a:spcPts val="3079"/>
              </a:lnSpc>
              <a:spcBef>
                <a:spcPct val="0"/>
              </a:spcBef>
            </a:pPr>
            <a:r>
              <a:rPr lang="en-US" sz="2199" strike="noStrike" u="none">
                <a:solidFill>
                  <a:srgbClr val="FDFDFD"/>
                </a:solidFill>
                <a:latin typeface="Alef Bold"/>
                <a:ea typeface="Alef Bold"/>
                <a:cs typeface="Alef Bold"/>
                <a:sym typeface="Alef Bold"/>
              </a:rPr>
              <a:t>Cape Cod → NONE (location corrupted)</a:t>
            </a:r>
          </a:p>
          <a:p>
            <a:pPr algn="l" marL="0" indent="0" lvl="1">
              <a:lnSpc>
                <a:spcPts val="3079"/>
              </a:lnSpc>
              <a:spcBef>
                <a:spcPct val="0"/>
              </a:spcBef>
            </a:pPr>
            <a:r>
              <a:rPr lang="en-US" sz="2199" strike="noStrike" u="none">
                <a:solidFill>
                  <a:srgbClr val="FDFDFD"/>
                </a:solidFill>
                <a:latin typeface="Alef Bold"/>
                <a:ea typeface="Alef Bold"/>
                <a:cs typeface="Alef Bold"/>
                <a:sym typeface="Alef Bold"/>
              </a:rPr>
              <a:t>nautical miles off the shore → knots, I come out as off as sure (nonsensical)</a:t>
            </a:r>
          </a:p>
        </p:txBody>
      </p:sp>
      <p:sp>
        <p:nvSpPr>
          <p:cNvPr name="TextBox 28" id="28"/>
          <p:cNvSpPr txBox="true"/>
          <p:nvPr/>
        </p:nvSpPr>
        <p:spPr>
          <a:xfrm rot="0">
            <a:off x="1028700" y="1790067"/>
            <a:ext cx="3965987" cy="533400"/>
          </a:xfrm>
          <a:prstGeom prst="rect">
            <a:avLst/>
          </a:prstGeom>
        </p:spPr>
        <p:txBody>
          <a:bodyPr anchor="t" rtlCol="false" tIns="0" lIns="0" bIns="0" rIns="0">
            <a:spAutoFit/>
          </a:bodyPr>
          <a:lstStyle/>
          <a:p>
            <a:pPr algn="l" rtl="true" marL="0" indent="0" lvl="0">
              <a:lnSpc>
                <a:spcPts val="4200"/>
              </a:lnSpc>
              <a:spcBef>
                <a:spcPct val="0"/>
              </a:spcBef>
            </a:pPr>
            <a:r>
              <a:rPr lang="en-US" b="true" sz="3000">
                <a:solidFill>
                  <a:srgbClr val="FFD166"/>
                </a:solidFill>
                <a:latin typeface="Arimo Bold"/>
                <a:ea typeface="Arimo Bold"/>
                <a:cs typeface="Arimo Bold"/>
                <a:sym typeface="Arimo Bold"/>
              </a:rPr>
              <a:t>ORIGINAL </a:t>
            </a:r>
            <a:r>
              <a:rPr lang="en-US" b="true" sz="3000" strike="noStrike" u="none">
                <a:solidFill>
                  <a:srgbClr val="FFD166"/>
                </a:solidFill>
                <a:latin typeface="Arimo Bold"/>
                <a:ea typeface="Arimo Bold"/>
                <a:cs typeface="Arimo Bold"/>
                <a:sym typeface="Arimo Bold"/>
              </a:rPr>
              <a:t>MES</a:t>
            </a:r>
            <a:r>
              <a:rPr lang="en-US" b="true" sz="3000" strike="noStrike" u="none">
                <a:solidFill>
                  <a:srgbClr val="FFD166"/>
                </a:solidFill>
                <a:latin typeface="Arimo Bold"/>
                <a:ea typeface="Arimo Bold"/>
                <a:cs typeface="Arimo Bold"/>
                <a:sym typeface="Arimo Bold"/>
              </a:rPr>
              <a:t>SAGE</a:t>
            </a:r>
          </a:p>
        </p:txBody>
      </p:sp>
      <p:sp>
        <p:nvSpPr>
          <p:cNvPr name="TextBox 29" id="29"/>
          <p:cNvSpPr txBox="true"/>
          <p:nvPr/>
        </p:nvSpPr>
        <p:spPr>
          <a:xfrm rot="0">
            <a:off x="7149164" y="1790067"/>
            <a:ext cx="2660919" cy="533400"/>
          </a:xfrm>
          <a:prstGeom prst="rect">
            <a:avLst/>
          </a:prstGeom>
        </p:spPr>
        <p:txBody>
          <a:bodyPr anchor="t" rtlCol="false" tIns="0" lIns="0" bIns="0" rIns="0">
            <a:spAutoFit/>
          </a:bodyPr>
          <a:lstStyle/>
          <a:p>
            <a:pPr algn="l" rtl="true" marL="0" indent="0" lvl="0">
              <a:lnSpc>
                <a:spcPts val="4200"/>
              </a:lnSpc>
              <a:spcBef>
                <a:spcPct val="0"/>
              </a:spcBef>
            </a:pPr>
            <a:r>
              <a:rPr lang="en-US" b="true" sz="3000">
                <a:solidFill>
                  <a:srgbClr val="FFD166"/>
                </a:solidFill>
                <a:latin typeface="Arimo Bold"/>
                <a:ea typeface="Arimo Bold"/>
                <a:cs typeface="Arimo Bold"/>
                <a:sym typeface="Arimo Bold"/>
              </a:rPr>
              <a:t>ASR OUTPU</a:t>
            </a:r>
            <a:r>
              <a:rPr lang="en-US" b="true" sz="3000" strike="noStrike" u="none">
                <a:solidFill>
                  <a:srgbClr val="FFD166"/>
                </a:solidFill>
                <a:latin typeface="Arimo Bold"/>
                <a:ea typeface="Arimo Bold"/>
                <a:cs typeface="Arimo Bold"/>
                <a:sym typeface="Arimo Bold"/>
              </a:rPr>
              <a:t>T</a:t>
            </a:r>
          </a:p>
        </p:txBody>
      </p:sp>
      <p:sp>
        <p:nvSpPr>
          <p:cNvPr name="TextBox 30" id="30"/>
          <p:cNvSpPr txBox="true"/>
          <p:nvPr/>
        </p:nvSpPr>
        <p:spPr>
          <a:xfrm rot="0">
            <a:off x="9739600" y="1908178"/>
            <a:ext cx="1935837" cy="415290"/>
          </a:xfrm>
          <a:prstGeom prst="rect">
            <a:avLst/>
          </a:prstGeom>
        </p:spPr>
        <p:txBody>
          <a:bodyPr anchor="t" rtlCol="false" tIns="0" lIns="0" bIns="0" rIns="0">
            <a:spAutoFit/>
          </a:bodyPr>
          <a:lstStyle/>
          <a:p>
            <a:pPr algn="l" rtl="true" marL="0" indent="0" lvl="0">
              <a:lnSpc>
                <a:spcPts val="3360"/>
              </a:lnSpc>
              <a:spcBef>
                <a:spcPct val="0"/>
              </a:spcBef>
            </a:pPr>
            <a:r>
              <a:rPr lang="en-US" b="true" sz="2400">
                <a:solidFill>
                  <a:srgbClr val="FFD166"/>
                </a:solidFill>
                <a:latin typeface="Arimo Bold"/>
                <a:ea typeface="Arimo Bold"/>
                <a:cs typeface="Arimo Bold"/>
                <a:sym typeface="Arimo Bold"/>
              </a:rPr>
              <a:t>HIGH NOISE</a:t>
            </a:r>
          </a:p>
        </p:txBody>
      </p:sp>
      <p:sp>
        <p:nvSpPr>
          <p:cNvPr name="TextBox 31" id="31"/>
          <p:cNvSpPr txBox="true"/>
          <p:nvPr/>
        </p:nvSpPr>
        <p:spPr>
          <a:xfrm rot="0">
            <a:off x="13371851" y="1790067"/>
            <a:ext cx="3300697" cy="533400"/>
          </a:xfrm>
          <a:prstGeom prst="rect">
            <a:avLst/>
          </a:prstGeom>
        </p:spPr>
        <p:txBody>
          <a:bodyPr anchor="t" rtlCol="false" tIns="0" lIns="0" bIns="0" rIns="0">
            <a:spAutoFit/>
          </a:bodyPr>
          <a:lstStyle/>
          <a:p>
            <a:pPr algn="l" rtl="true">
              <a:lnSpc>
                <a:spcPts val="4200"/>
              </a:lnSpc>
              <a:spcBef>
                <a:spcPct val="0"/>
              </a:spcBef>
            </a:pPr>
            <a:r>
              <a:rPr lang="en-US" b="true" sz="3000">
                <a:solidFill>
                  <a:srgbClr val="FFD166"/>
                </a:solidFill>
                <a:latin typeface="Arimo Bold"/>
                <a:ea typeface="Arimo Bold"/>
                <a:cs typeface="Arimo Bold"/>
                <a:sym typeface="Arimo Bold"/>
              </a:rPr>
              <a:t>MODEL OUTPU</a:t>
            </a:r>
            <a:r>
              <a:rPr lang="en-US" b="true" sz="3000" strike="noStrike" u="none">
                <a:solidFill>
                  <a:srgbClr val="FFD166"/>
                </a:solidFill>
                <a:latin typeface="Arimo Bold"/>
                <a:ea typeface="Arimo Bold"/>
                <a:cs typeface="Arimo Bold"/>
                <a:sym typeface="Arimo Bold"/>
              </a:rPr>
              <a:t>T</a:t>
            </a:r>
          </a:p>
        </p:txBody>
      </p:sp>
      <p:sp>
        <p:nvSpPr>
          <p:cNvPr name="TextBox 32" id="32"/>
          <p:cNvSpPr txBox="true"/>
          <p:nvPr/>
        </p:nvSpPr>
        <p:spPr>
          <a:xfrm rot="0">
            <a:off x="13371851" y="3945712"/>
            <a:ext cx="2821558" cy="372745"/>
          </a:xfrm>
          <a:prstGeom prst="rect">
            <a:avLst/>
          </a:prstGeom>
        </p:spPr>
        <p:txBody>
          <a:bodyPr anchor="t" rtlCol="false" tIns="0" lIns="0" bIns="0" rIns="0">
            <a:spAutoFit/>
          </a:bodyPr>
          <a:lstStyle/>
          <a:p>
            <a:pPr algn="l" marL="0" indent="0" lvl="1">
              <a:lnSpc>
                <a:spcPts val="3079"/>
              </a:lnSpc>
              <a:spcBef>
                <a:spcPct val="0"/>
              </a:spcBef>
            </a:pPr>
            <a:r>
              <a:rPr lang="en-US" sz="2199" strike="noStrike" u="none">
                <a:solidFill>
                  <a:srgbClr val="FDFDFD"/>
                </a:solidFill>
                <a:latin typeface="Alef Bold"/>
                <a:ea typeface="Alef Bold"/>
                <a:cs typeface="Alef Bold"/>
                <a:sym typeface="Alef Bold"/>
              </a:rPr>
              <a:t>Extracted Information</a:t>
            </a:r>
          </a:p>
        </p:txBody>
      </p:sp>
      <p:sp>
        <p:nvSpPr>
          <p:cNvPr name="TextBox 33" id="33"/>
          <p:cNvSpPr txBox="true"/>
          <p:nvPr/>
        </p:nvSpPr>
        <p:spPr>
          <a:xfrm rot="0">
            <a:off x="13371851" y="2597450"/>
            <a:ext cx="1683990" cy="372745"/>
          </a:xfrm>
          <a:prstGeom prst="rect">
            <a:avLst/>
          </a:prstGeom>
        </p:spPr>
        <p:txBody>
          <a:bodyPr anchor="t" rtlCol="false" tIns="0" lIns="0" bIns="0" rIns="0">
            <a:spAutoFit/>
          </a:bodyPr>
          <a:lstStyle/>
          <a:p>
            <a:pPr algn="l" marL="0" indent="0" lvl="1">
              <a:lnSpc>
                <a:spcPts val="3079"/>
              </a:lnSpc>
              <a:spcBef>
                <a:spcPct val="0"/>
              </a:spcBef>
            </a:pPr>
            <a:r>
              <a:rPr lang="en-US" sz="2199" strike="noStrike" u="none">
                <a:solidFill>
                  <a:srgbClr val="FDFDFD"/>
                </a:solidFill>
                <a:latin typeface="Alef Bold"/>
                <a:ea typeface="Alef Bold"/>
                <a:cs typeface="Alef Bold"/>
                <a:sym typeface="Alef Bold"/>
              </a:rPr>
              <a:t>Classification</a:t>
            </a:r>
          </a:p>
        </p:txBody>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 t="0" r="-12" b="0"/>
            </a:stretch>
          </a:blipFill>
        </p:spPr>
      </p:sp>
      <p:grpSp>
        <p:nvGrpSpPr>
          <p:cNvPr name="Group 3" id="3"/>
          <p:cNvGrpSpPr/>
          <p:nvPr/>
        </p:nvGrpSpPr>
        <p:grpSpPr>
          <a:xfrm rot="0">
            <a:off x="9144000" y="5451347"/>
            <a:ext cx="8595240" cy="4333751"/>
            <a:chOff x="0" y="0"/>
            <a:chExt cx="3235271" cy="1631235"/>
          </a:xfrm>
        </p:grpSpPr>
        <p:sp>
          <p:nvSpPr>
            <p:cNvPr name="Freeform 4" id="4"/>
            <p:cNvSpPr/>
            <p:nvPr/>
          </p:nvSpPr>
          <p:spPr>
            <a:xfrm flipH="false" flipV="false" rot="0">
              <a:off x="0" y="0"/>
              <a:ext cx="3235271" cy="1631236"/>
            </a:xfrm>
            <a:custGeom>
              <a:avLst/>
              <a:gdLst/>
              <a:ahLst/>
              <a:cxnLst/>
              <a:rect r="r" b="b" t="t" l="l"/>
              <a:pathLst>
                <a:path h="1631236" w="3235271">
                  <a:moveTo>
                    <a:pt x="45937" y="0"/>
                  </a:moveTo>
                  <a:lnTo>
                    <a:pt x="3189334" y="0"/>
                  </a:lnTo>
                  <a:cubicBezTo>
                    <a:pt x="3201517" y="0"/>
                    <a:pt x="3213202" y="4840"/>
                    <a:pt x="3221816" y="13455"/>
                  </a:cubicBezTo>
                  <a:cubicBezTo>
                    <a:pt x="3230431" y="22069"/>
                    <a:pt x="3235271" y="33754"/>
                    <a:pt x="3235271" y="45937"/>
                  </a:cubicBezTo>
                  <a:lnTo>
                    <a:pt x="3235271" y="1585299"/>
                  </a:lnTo>
                  <a:cubicBezTo>
                    <a:pt x="3235271" y="1597482"/>
                    <a:pt x="3230431" y="1609166"/>
                    <a:pt x="3221816" y="1617781"/>
                  </a:cubicBezTo>
                  <a:cubicBezTo>
                    <a:pt x="3213202" y="1626396"/>
                    <a:pt x="3201517" y="1631236"/>
                    <a:pt x="3189334" y="1631236"/>
                  </a:cubicBezTo>
                  <a:lnTo>
                    <a:pt x="45937" y="1631236"/>
                  </a:lnTo>
                  <a:cubicBezTo>
                    <a:pt x="33754" y="1631236"/>
                    <a:pt x="22069" y="1626396"/>
                    <a:pt x="13455" y="1617781"/>
                  </a:cubicBezTo>
                  <a:cubicBezTo>
                    <a:pt x="4840" y="1609166"/>
                    <a:pt x="0" y="1597482"/>
                    <a:pt x="0" y="1585299"/>
                  </a:cubicBezTo>
                  <a:lnTo>
                    <a:pt x="0" y="45937"/>
                  </a:lnTo>
                  <a:cubicBezTo>
                    <a:pt x="0" y="33754"/>
                    <a:pt x="4840" y="22069"/>
                    <a:pt x="13455" y="13455"/>
                  </a:cubicBezTo>
                  <a:cubicBezTo>
                    <a:pt x="22069" y="4840"/>
                    <a:pt x="33754" y="0"/>
                    <a:pt x="45937" y="0"/>
                  </a:cubicBezTo>
                  <a:close/>
                </a:path>
              </a:pathLst>
            </a:custGeom>
            <a:solidFill>
              <a:srgbClr val="131B1F">
                <a:alpha val="81961"/>
              </a:srgbClr>
            </a:solidFill>
            <a:ln w="19050" cap="rnd">
              <a:solidFill>
                <a:srgbClr val="FFFFFF">
                  <a:alpha val="81961"/>
                </a:srgbClr>
              </a:solidFill>
              <a:prstDash val="solid"/>
              <a:round/>
            </a:ln>
          </p:spPr>
        </p:sp>
        <p:sp>
          <p:nvSpPr>
            <p:cNvPr name="TextBox 5" id="5"/>
            <p:cNvSpPr txBox="true"/>
            <p:nvPr/>
          </p:nvSpPr>
          <p:spPr>
            <a:xfrm>
              <a:off x="0" y="76200"/>
              <a:ext cx="3235271" cy="1555035"/>
            </a:xfrm>
            <a:prstGeom prst="rect">
              <a:avLst/>
            </a:prstGeom>
          </p:spPr>
          <p:txBody>
            <a:bodyPr anchor="ctr" rtlCol="false" tIns="50800" lIns="50800" bIns="50800" rIns="50800"/>
            <a:lstStyle/>
            <a:p>
              <a:pPr algn="ctr" marL="0" indent="0" lvl="0">
                <a:lnSpc>
                  <a:spcPts val="2048"/>
                </a:lnSpc>
                <a:spcBef>
                  <a:spcPct val="0"/>
                </a:spcBef>
              </a:pPr>
            </a:p>
          </p:txBody>
        </p:sp>
      </p:grpSp>
      <p:sp>
        <p:nvSpPr>
          <p:cNvPr name="Freeform 6" id="6"/>
          <p:cNvSpPr/>
          <p:nvPr/>
        </p:nvSpPr>
        <p:spPr>
          <a:xfrm flipH="false" flipV="false" rot="0">
            <a:off x="9487307" y="5545138"/>
            <a:ext cx="8031823" cy="4112720"/>
          </a:xfrm>
          <a:custGeom>
            <a:avLst/>
            <a:gdLst/>
            <a:ahLst/>
            <a:cxnLst/>
            <a:rect r="r" b="b" t="t" l="l"/>
            <a:pathLst>
              <a:path h="4112720" w="8031823">
                <a:moveTo>
                  <a:pt x="0" y="0"/>
                </a:moveTo>
                <a:lnTo>
                  <a:pt x="8031823" y="0"/>
                </a:lnTo>
                <a:lnTo>
                  <a:pt x="8031823" y="4112720"/>
                </a:lnTo>
                <a:lnTo>
                  <a:pt x="0" y="4112720"/>
                </a:lnTo>
                <a:lnTo>
                  <a:pt x="0" y="0"/>
                </a:lnTo>
                <a:close/>
              </a:path>
            </a:pathLst>
          </a:custGeom>
          <a:blipFill>
            <a:blip r:embed="rId3"/>
            <a:stretch>
              <a:fillRect l="-1309" t="-13235" r="-16140" b="-39902"/>
            </a:stretch>
          </a:blipFill>
        </p:spPr>
      </p:sp>
      <p:grpSp>
        <p:nvGrpSpPr>
          <p:cNvPr name="Group 7" id="7"/>
          <p:cNvGrpSpPr/>
          <p:nvPr/>
        </p:nvGrpSpPr>
        <p:grpSpPr>
          <a:xfrm rot="0">
            <a:off x="4274760" y="5451347"/>
            <a:ext cx="4516523" cy="4300303"/>
            <a:chOff x="0" y="0"/>
            <a:chExt cx="1700031" cy="1618645"/>
          </a:xfrm>
        </p:grpSpPr>
        <p:sp>
          <p:nvSpPr>
            <p:cNvPr name="Freeform 8" id="8"/>
            <p:cNvSpPr/>
            <p:nvPr/>
          </p:nvSpPr>
          <p:spPr>
            <a:xfrm flipH="false" flipV="false" rot="0">
              <a:off x="0" y="0"/>
              <a:ext cx="1700031" cy="1618645"/>
            </a:xfrm>
            <a:custGeom>
              <a:avLst/>
              <a:gdLst/>
              <a:ahLst/>
              <a:cxnLst/>
              <a:rect r="r" b="b" t="t" l="l"/>
              <a:pathLst>
                <a:path h="1618645" w="1700031">
                  <a:moveTo>
                    <a:pt x="87421" y="0"/>
                  </a:moveTo>
                  <a:lnTo>
                    <a:pt x="1612611" y="0"/>
                  </a:lnTo>
                  <a:cubicBezTo>
                    <a:pt x="1635796" y="0"/>
                    <a:pt x="1658032" y="9210"/>
                    <a:pt x="1674426" y="25605"/>
                  </a:cubicBezTo>
                  <a:cubicBezTo>
                    <a:pt x="1690821" y="42000"/>
                    <a:pt x="1700031" y="64235"/>
                    <a:pt x="1700031" y="87421"/>
                  </a:cubicBezTo>
                  <a:lnTo>
                    <a:pt x="1700031" y="1531225"/>
                  </a:lnTo>
                  <a:cubicBezTo>
                    <a:pt x="1700031" y="1554410"/>
                    <a:pt x="1690821" y="1576646"/>
                    <a:pt x="1674426" y="1593040"/>
                  </a:cubicBezTo>
                  <a:cubicBezTo>
                    <a:pt x="1658032" y="1609435"/>
                    <a:pt x="1635796" y="1618645"/>
                    <a:pt x="1612611" y="1618645"/>
                  </a:cubicBezTo>
                  <a:lnTo>
                    <a:pt x="87421" y="1618645"/>
                  </a:lnTo>
                  <a:cubicBezTo>
                    <a:pt x="64235" y="1618645"/>
                    <a:pt x="42000" y="1609435"/>
                    <a:pt x="25605" y="1593040"/>
                  </a:cubicBezTo>
                  <a:cubicBezTo>
                    <a:pt x="9210" y="1576646"/>
                    <a:pt x="0" y="1554410"/>
                    <a:pt x="0" y="1531225"/>
                  </a:cubicBezTo>
                  <a:lnTo>
                    <a:pt x="0" y="87421"/>
                  </a:lnTo>
                  <a:cubicBezTo>
                    <a:pt x="0" y="64235"/>
                    <a:pt x="9210" y="42000"/>
                    <a:pt x="25605" y="25605"/>
                  </a:cubicBezTo>
                  <a:cubicBezTo>
                    <a:pt x="42000" y="9210"/>
                    <a:pt x="64235" y="0"/>
                    <a:pt x="87421" y="0"/>
                  </a:cubicBezTo>
                  <a:close/>
                </a:path>
              </a:pathLst>
            </a:custGeom>
            <a:solidFill>
              <a:srgbClr val="131B1F">
                <a:alpha val="81961"/>
              </a:srgbClr>
            </a:solidFill>
            <a:ln w="19050" cap="rnd">
              <a:solidFill>
                <a:srgbClr val="FFFFFF">
                  <a:alpha val="81961"/>
                </a:srgbClr>
              </a:solidFill>
              <a:prstDash val="solid"/>
              <a:round/>
            </a:ln>
          </p:spPr>
        </p:sp>
        <p:sp>
          <p:nvSpPr>
            <p:cNvPr name="TextBox 9" id="9"/>
            <p:cNvSpPr txBox="true"/>
            <p:nvPr/>
          </p:nvSpPr>
          <p:spPr>
            <a:xfrm>
              <a:off x="0" y="76200"/>
              <a:ext cx="1700031" cy="1542445"/>
            </a:xfrm>
            <a:prstGeom prst="rect">
              <a:avLst/>
            </a:prstGeom>
          </p:spPr>
          <p:txBody>
            <a:bodyPr anchor="ctr" rtlCol="false" tIns="50800" lIns="50800" bIns="50800" rIns="50800"/>
            <a:lstStyle/>
            <a:p>
              <a:pPr algn="ctr" marL="0" indent="0" lvl="0">
                <a:lnSpc>
                  <a:spcPts val="2048"/>
                </a:lnSpc>
                <a:spcBef>
                  <a:spcPct val="0"/>
                </a:spcBef>
              </a:pPr>
            </a:p>
          </p:txBody>
        </p:sp>
      </p:grpSp>
      <p:sp>
        <p:nvSpPr>
          <p:cNvPr name="Freeform 10" id="10"/>
          <p:cNvSpPr/>
          <p:nvPr/>
        </p:nvSpPr>
        <p:spPr>
          <a:xfrm flipH="false" flipV="false" rot="0">
            <a:off x="4274760" y="5589950"/>
            <a:ext cx="4373761" cy="4023097"/>
          </a:xfrm>
          <a:custGeom>
            <a:avLst/>
            <a:gdLst/>
            <a:ahLst/>
            <a:cxnLst/>
            <a:rect r="r" b="b" t="t" l="l"/>
            <a:pathLst>
              <a:path h="4023097" w="4373761">
                <a:moveTo>
                  <a:pt x="0" y="0"/>
                </a:moveTo>
                <a:lnTo>
                  <a:pt x="4373761" y="0"/>
                </a:lnTo>
                <a:lnTo>
                  <a:pt x="4373761" y="4023097"/>
                </a:lnTo>
                <a:lnTo>
                  <a:pt x="0" y="4023097"/>
                </a:lnTo>
                <a:lnTo>
                  <a:pt x="0" y="0"/>
                </a:lnTo>
                <a:close/>
              </a:path>
            </a:pathLst>
          </a:custGeom>
          <a:blipFill>
            <a:blip r:embed="rId4"/>
            <a:stretch>
              <a:fillRect l="-23051" t="0" r="-5368" b="-53752"/>
            </a:stretch>
          </a:blipFill>
        </p:spPr>
      </p:sp>
      <p:grpSp>
        <p:nvGrpSpPr>
          <p:cNvPr name="Group 11" id="11"/>
          <p:cNvGrpSpPr/>
          <p:nvPr/>
        </p:nvGrpSpPr>
        <p:grpSpPr>
          <a:xfrm rot="0">
            <a:off x="9144000" y="308907"/>
            <a:ext cx="8427490" cy="4797847"/>
            <a:chOff x="0" y="0"/>
            <a:chExt cx="2990792" cy="1702685"/>
          </a:xfrm>
        </p:grpSpPr>
        <p:sp>
          <p:nvSpPr>
            <p:cNvPr name="Freeform 12" id="12"/>
            <p:cNvSpPr/>
            <p:nvPr/>
          </p:nvSpPr>
          <p:spPr>
            <a:xfrm flipH="false" flipV="false" rot="0">
              <a:off x="0" y="0"/>
              <a:ext cx="2990792" cy="1702685"/>
            </a:xfrm>
            <a:custGeom>
              <a:avLst/>
              <a:gdLst/>
              <a:ahLst/>
              <a:cxnLst/>
              <a:rect r="r" b="b" t="t" l="l"/>
              <a:pathLst>
                <a:path h="1702685" w="2990792">
                  <a:moveTo>
                    <a:pt x="46851" y="0"/>
                  </a:moveTo>
                  <a:lnTo>
                    <a:pt x="2943940" y="0"/>
                  </a:lnTo>
                  <a:cubicBezTo>
                    <a:pt x="2969816" y="0"/>
                    <a:pt x="2990792" y="20976"/>
                    <a:pt x="2990792" y="46851"/>
                  </a:cubicBezTo>
                  <a:lnTo>
                    <a:pt x="2990792" y="1655834"/>
                  </a:lnTo>
                  <a:cubicBezTo>
                    <a:pt x="2990792" y="1668260"/>
                    <a:pt x="2985856" y="1680176"/>
                    <a:pt x="2977069" y="1688963"/>
                  </a:cubicBezTo>
                  <a:cubicBezTo>
                    <a:pt x="2968283" y="1697749"/>
                    <a:pt x="2956366" y="1702685"/>
                    <a:pt x="2943940" y="1702685"/>
                  </a:cubicBezTo>
                  <a:lnTo>
                    <a:pt x="46851" y="1702685"/>
                  </a:lnTo>
                  <a:cubicBezTo>
                    <a:pt x="20976" y="1702685"/>
                    <a:pt x="0" y="1681709"/>
                    <a:pt x="0" y="1655834"/>
                  </a:cubicBezTo>
                  <a:lnTo>
                    <a:pt x="0" y="46851"/>
                  </a:lnTo>
                  <a:cubicBezTo>
                    <a:pt x="0" y="20976"/>
                    <a:pt x="20976" y="0"/>
                    <a:pt x="46851" y="0"/>
                  </a:cubicBezTo>
                  <a:close/>
                </a:path>
              </a:pathLst>
            </a:custGeom>
            <a:solidFill>
              <a:srgbClr val="131B1F">
                <a:alpha val="81961"/>
              </a:srgbClr>
            </a:solidFill>
            <a:ln w="19050" cap="rnd">
              <a:solidFill>
                <a:srgbClr val="FFFFFF">
                  <a:alpha val="81961"/>
                </a:srgbClr>
              </a:solidFill>
              <a:prstDash val="solid"/>
              <a:round/>
            </a:ln>
          </p:spPr>
        </p:sp>
        <p:sp>
          <p:nvSpPr>
            <p:cNvPr name="TextBox 13" id="13"/>
            <p:cNvSpPr txBox="true"/>
            <p:nvPr/>
          </p:nvSpPr>
          <p:spPr>
            <a:xfrm>
              <a:off x="0" y="76200"/>
              <a:ext cx="2990792" cy="1626485"/>
            </a:xfrm>
            <a:prstGeom prst="rect">
              <a:avLst/>
            </a:prstGeom>
          </p:spPr>
          <p:txBody>
            <a:bodyPr anchor="ctr" rtlCol="false" tIns="50800" lIns="50800" bIns="50800" rIns="50800"/>
            <a:lstStyle/>
            <a:p>
              <a:pPr algn="ctr" marL="0" indent="0" lvl="0">
                <a:lnSpc>
                  <a:spcPts val="2048"/>
                </a:lnSpc>
                <a:spcBef>
                  <a:spcPct val="0"/>
                </a:spcBef>
              </a:pPr>
            </a:p>
          </p:txBody>
        </p:sp>
      </p:grpSp>
      <p:sp>
        <p:nvSpPr>
          <p:cNvPr name="Freeform 14" id="14"/>
          <p:cNvSpPr/>
          <p:nvPr/>
        </p:nvSpPr>
        <p:spPr>
          <a:xfrm flipH="false" flipV="false" rot="0">
            <a:off x="9237246" y="456932"/>
            <a:ext cx="8240998" cy="4618090"/>
          </a:xfrm>
          <a:custGeom>
            <a:avLst/>
            <a:gdLst/>
            <a:ahLst/>
            <a:cxnLst/>
            <a:rect r="r" b="b" t="t" l="l"/>
            <a:pathLst>
              <a:path h="4618090" w="8240998">
                <a:moveTo>
                  <a:pt x="0" y="0"/>
                </a:moveTo>
                <a:lnTo>
                  <a:pt x="8240998" y="0"/>
                </a:lnTo>
                <a:lnTo>
                  <a:pt x="8240998" y="4618090"/>
                </a:lnTo>
                <a:lnTo>
                  <a:pt x="0" y="4618090"/>
                </a:lnTo>
                <a:lnTo>
                  <a:pt x="0" y="0"/>
                </a:lnTo>
                <a:close/>
              </a:path>
            </a:pathLst>
          </a:custGeom>
          <a:blipFill>
            <a:blip r:embed="rId5"/>
            <a:stretch>
              <a:fillRect l="0" t="-969" r="0" b="-969"/>
            </a:stretch>
          </a:blipFill>
        </p:spPr>
      </p:sp>
      <p:sp>
        <p:nvSpPr>
          <p:cNvPr name="TextBox 15" id="15"/>
          <p:cNvSpPr txBox="true"/>
          <p:nvPr/>
        </p:nvSpPr>
        <p:spPr>
          <a:xfrm rot="0">
            <a:off x="902373" y="466725"/>
            <a:ext cx="2752576" cy="1057275"/>
          </a:xfrm>
          <a:prstGeom prst="rect">
            <a:avLst/>
          </a:prstGeom>
        </p:spPr>
        <p:txBody>
          <a:bodyPr anchor="t" rtlCol="false" tIns="0" lIns="0" bIns="0" rIns="0">
            <a:spAutoFit/>
          </a:bodyPr>
          <a:lstStyle/>
          <a:p>
            <a:pPr algn="ctr">
              <a:lnSpc>
                <a:spcPts val="8400"/>
              </a:lnSpc>
            </a:pPr>
            <a:r>
              <a:rPr lang="en-US" b="true" sz="6000">
                <a:solidFill>
                  <a:srgbClr val="FFFFFF"/>
                </a:solidFill>
                <a:latin typeface="Arimo Bold"/>
                <a:ea typeface="Arimo Bold"/>
                <a:cs typeface="Arimo Bold"/>
                <a:sym typeface="Arimo Bold"/>
              </a:rPr>
              <a:t>Results</a:t>
            </a:r>
          </a:p>
        </p:txBody>
      </p:sp>
      <p:sp>
        <p:nvSpPr>
          <p:cNvPr name="TextBox 16" id="16"/>
          <p:cNvSpPr txBox="true"/>
          <p:nvPr/>
        </p:nvSpPr>
        <p:spPr>
          <a:xfrm rot="0">
            <a:off x="4686921" y="5551850"/>
            <a:ext cx="3549438" cy="405099"/>
          </a:xfrm>
          <a:prstGeom prst="rect">
            <a:avLst/>
          </a:prstGeom>
        </p:spPr>
        <p:txBody>
          <a:bodyPr anchor="t" rtlCol="false" tIns="0" lIns="0" bIns="0" rIns="0">
            <a:spAutoFit/>
          </a:bodyPr>
          <a:lstStyle/>
          <a:p>
            <a:pPr algn="ctr" marL="0" indent="0" lvl="0">
              <a:lnSpc>
                <a:spcPts val="3396"/>
              </a:lnSpc>
              <a:spcBef>
                <a:spcPct val="0"/>
              </a:spcBef>
            </a:pPr>
            <a:r>
              <a:rPr lang="en-US" sz="2426">
                <a:solidFill>
                  <a:srgbClr val="FFD166"/>
                </a:solidFill>
                <a:latin typeface="Alef Bold"/>
                <a:ea typeface="Alef Bold"/>
                <a:cs typeface="Alef Bold"/>
                <a:sym typeface="Alef Bold"/>
              </a:rPr>
              <a:t>M</a:t>
            </a:r>
            <a:r>
              <a:rPr lang="en-US" sz="2426" strike="noStrike" u="none">
                <a:solidFill>
                  <a:srgbClr val="FFD166"/>
                </a:solidFill>
                <a:latin typeface="Alef Bold"/>
                <a:ea typeface="Alef Bold"/>
                <a:cs typeface="Alef Bold"/>
                <a:sym typeface="Alef Bold"/>
              </a:rPr>
              <a:t>as</a:t>
            </a:r>
            <a:r>
              <a:rPr lang="en-US" sz="2426" strike="noStrike" u="none">
                <a:solidFill>
                  <a:srgbClr val="FFD166"/>
                </a:solidFill>
                <a:latin typeface="Alef Bold"/>
                <a:ea typeface="Alef Bold"/>
                <a:cs typeface="Alef Bold"/>
                <a:sym typeface="Alef Bold"/>
              </a:rPr>
              <a:t>ked C</a:t>
            </a:r>
            <a:r>
              <a:rPr lang="en-US" sz="2426" strike="noStrike" u="none">
                <a:solidFill>
                  <a:srgbClr val="FFD166"/>
                </a:solidFill>
                <a:latin typeface="Alef Bold"/>
                <a:ea typeface="Alef Bold"/>
                <a:cs typeface="Alef Bold"/>
                <a:sym typeface="Alef Bold"/>
              </a:rPr>
              <a:t>ode</a:t>
            </a:r>
            <a:r>
              <a:rPr lang="en-US" sz="2426" strike="noStrike" u="none">
                <a:solidFill>
                  <a:srgbClr val="FFD166"/>
                </a:solidFill>
                <a:latin typeface="Alef Bold"/>
                <a:ea typeface="Alef Bold"/>
                <a:cs typeface="Alef Bold"/>
                <a:sym typeface="Alef Bold"/>
              </a:rPr>
              <a:t>w</a:t>
            </a:r>
            <a:r>
              <a:rPr lang="en-US" sz="2426" strike="noStrike" u="none">
                <a:solidFill>
                  <a:srgbClr val="FFD166"/>
                </a:solidFill>
                <a:latin typeface="Alef Bold"/>
                <a:ea typeface="Alef Bold"/>
                <a:cs typeface="Alef Bold"/>
                <a:sym typeface="Alef Bold"/>
              </a:rPr>
              <a:t>o</a:t>
            </a:r>
            <a:r>
              <a:rPr lang="en-US" sz="2426" strike="noStrike" u="none">
                <a:solidFill>
                  <a:srgbClr val="FFD166"/>
                </a:solidFill>
                <a:latin typeface="Alef Bold"/>
                <a:ea typeface="Alef Bold"/>
                <a:cs typeface="Alef Bold"/>
                <a:sym typeface="Alef Bold"/>
              </a:rPr>
              <a:t>rd</a:t>
            </a:r>
            <a:r>
              <a:rPr lang="en-US" sz="2426" strike="noStrike" u="none">
                <a:solidFill>
                  <a:srgbClr val="FFD166"/>
                </a:solidFill>
                <a:latin typeface="Alef Bold"/>
                <a:ea typeface="Alef Bold"/>
                <a:cs typeface="Alef Bold"/>
                <a:sym typeface="Alef Bold"/>
              </a:rPr>
              <a:t>s</a:t>
            </a:r>
          </a:p>
        </p:txBody>
      </p:sp>
      <p:sp>
        <p:nvSpPr>
          <p:cNvPr name="TextBox 17" id="17"/>
          <p:cNvSpPr txBox="true"/>
          <p:nvPr/>
        </p:nvSpPr>
        <p:spPr>
          <a:xfrm rot="0">
            <a:off x="10628753" y="9378905"/>
            <a:ext cx="975018" cy="372745"/>
          </a:xfrm>
          <a:prstGeom prst="rect">
            <a:avLst/>
          </a:prstGeom>
        </p:spPr>
        <p:txBody>
          <a:bodyPr anchor="t" rtlCol="false" tIns="0" lIns="0" bIns="0" rIns="0">
            <a:spAutoFit/>
          </a:bodyPr>
          <a:lstStyle/>
          <a:p>
            <a:pPr algn="ctr">
              <a:lnSpc>
                <a:spcPts val="3079"/>
              </a:lnSpc>
            </a:pPr>
            <a:r>
              <a:rPr lang="en-US" sz="2199">
                <a:solidFill>
                  <a:srgbClr val="FDFDFD"/>
                </a:solidFill>
                <a:latin typeface="Alef Bold"/>
                <a:ea typeface="Alef Bold"/>
                <a:cs typeface="Alef Bold"/>
                <a:sym typeface="Alef Bold"/>
              </a:rPr>
              <a:t>Clean</a:t>
            </a:r>
          </a:p>
        </p:txBody>
      </p:sp>
      <p:sp>
        <p:nvSpPr>
          <p:cNvPr name="TextBox 18" id="18"/>
          <p:cNvSpPr txBox="true"/>
          <p:nvPr/>
        </p:nvSpPr>
        <p:spPr>
          <a:xfrm rot="0">
            <a:off x="12167527" y="9378905"/>
            <a:ext cx="1335692" cy="372745"/>
          </a:xfrm>
          <a:prstGeom prst="rect">
            <a:avLst/>
          </a:prstGeom>
        </p:spPr>
        <p:txBody>
          <a:bodyPr anchor="t" rtlCol="false" tIns="0" lIns="0" bIns="0" rIns="0">
            <a:spAutoFit/>
          </a:bodyPr>
          <a:lstStyle/>
          <a:p>
            <a:pPr algn="ctr">
              <a:lnSpc>
                <a:spcPts val="3079"/>
              </a:lnSpc>
            </a:pPr>
            <a:r>
              <a:rPr lang="en-US" sz="2199">
                <a:solidFill>
                  <a:srgbClr val="FDFDFD"/>
                </a:solidFill>
                <a:latin typeface="Alef Bold"/>
                <a:ea typeface="Alef Bold"/>
                <a:cs typeface="Alef Bold"/>
                <a:sym typeface="Alef Bold"/>
              </a:rPr>
              <a:t>ASR-High</a:t>
            </a:r>
          </a:p>
        </p:txBody>
      </p:sp>
      <p:sp>
        <p:nvSpPr>
          <p:cNvPr name="TextBox 19" id="19"/>
          <p:cNvSpPr txBox="true"/>
          <p:nvPr/>
        </p:nvSpPr>
        <p:spPr>
          <a:xfrm rot="0">
            <a:off x="14298212" y="9378905"/>
            <a:ext cx="833885" cy="372745"/>
          </a:xfrm>
          <a:prstGeom prst="rect">
            <a:avLst/>
          </a:prstGeom>
        </p:spPr>
        <p:txBody>
          <a:bodyPr anchor="t" rtlCol="false" tIns="0" lIns="0" bIns="0" rIns="0">
            <a:spAutoFit/>
          </a:bodyPr>
          <a:lstStyle/>
          <a:p>
            <a:pPr algn="ctr">
              <a:lnSpc>
                <a:spcPts val="3079"/>
              </a:lnSpc>
            </a:pPr>
            <a:r>
              <a:rPr lang="en-US" sz="2199">
                <a:solidFill>
                  <a:srgbClr val="FDFDFD"/>
                </a:solidFill>
                <a:latin typeface="Alef Bold"/>
                <a:ea typeface="Alef Bold"/>
                <a:cs typeface="Alef Bold"/>
                <a:sym typeface="Alef Bold"/>
              </a:rPr>
              <a:t>Trap</a:t>
            </a:r>
          </a:p>
        </p:txBody>
      </p:sp>
      <p:sp>
        <p:nvSpPr>
          <p:cNvPr name="TextBox 20" id="20"/>
          <p:cNvSpPr txBox="true"/>
          <p:nvPr/>
        </p:nvSpPr>
        <p:spPr>
          <a:xfrm rot="0">
            <a:off x="11789575" y="5551850"/>
            <a:ext cx="3304090" cy="405654"/>
          </a:xfrm>
          <a:prstGeom prst="rect">
            <a:avLst/>
          </a:prstGeom>
        </p:spPr>
        <p:txBody>
          <a:bodyPr anchor="t" rtlCol="false" tIns="0" lIns="0" bIns="0" rIns="0">
            <a:spAutoFit/>
          </a:bodyPr>
          <a:lstStyle/>
          <a:p>
            <a:pPr algn="ctr">
              <a:lnSpc>
                <a:spcPts val="3396"/>
              </a:lnSpc>
            </a:pPr>
            <a:r>
              <a:rPr lang="en-US" sz="2426">
                <a:solidFill>
                  <a:srgbClr val="FFD166"/>
                </a:solidFill>
                <a:latin typeface="Alef Bold"/>
                <a:ea typeface="Alef Bold"/>
                <a:cs typeface="Alef Bold"/>
                <a:sym typeface="Alef Bold"/>
              </a:rPr>
              <a:t>Final Model</a:t>
            </a:r>
            <a:r>
              <a:rPr lang="en-US" sz="2426">
                <a:solidFill>
                  <a:srgbClr val="FFD166"/>
                </a:solidFill>
                <a:latin typeface="Alef Bold"/>
                <a:ea typeface="Alef Bold"/>
                <a:cs typeface="Alef Bold"/>
                <a:sym typeface="Alef Bold"/>
              </a:rPr>
              <a:t> Comparison</a:t>
            </a:r>
          </a:p>
        </p:txBody>
      </p:sp>
      <p:sp>
        <p:nvSpPr>
          <p:cNvPr name="TextBox 21" id="21"/>
          <p:cNvSpPr txBox="true"/>
          <p:nvPr/>
        </p:nvSpPr>
        <p:spPr>
          <a:xfrm rot="0">
            <a:off x="586288" y="4123657"/>
            <a:ext cx="7333986" cy="396240"/>
          </a:xfrm>
          <a:prstGeom prst="rect">
            <a:avLst/>
          </a:prstGeom>
        </p:spPr>
        <p:txBody>
          <a:bodyPr anchor="t" rtlCol="false" tIns="0" lIns="0" bIns="0" rIns="0">
            <a:spAutoFit/>
          </a:bodyPr>
          <a:lstStyle/>
          <a:p>
            <a:pPr algn="l" marL="518158" indent="-259079" lvl="1">
              <a:lnSpc>
                <a:spcPts val="3359"/>
              </a:lnSpc>
              <a:buFont typeface="Arial"/>
              <a:buChar char="•"/>
            </a:pPr>
            <a:r>
              <a:rPr lang="en-US" sz="2399" strike="noStrike" u="none">
                <a:solidFill>
                  <a:srgbClr val="FDFDFD"/>
                </a:solidFill>
                <a:latin typeface="Alef Bold"/>
                <a:ea typeface="Alef Bold"/>
                <a:cs typeface="Alef Bold"/>
                <a:sym typeface="Alef Bold"/>
              </a:rPr>
              <a:t>Tra</a:t>
            </a:r>
            <a:r>
              <a:rPr lang="en-US" sz="2399" strike="noStrike" u="none">
                <a:solidFill>
                  <a:srgbClr val="FDFDFD"/>
                </a:solidFill>
                <a:latin typeface="Alef Bold"/>
                <a:ea typeface="Alef Bold"/>
                <a:cs typeface="Alef Bold"/>
                <a:sym typeface="Alef Bold"/>
              </a:rPr>
              <a:t>nsfo</a:t>
            </a:r>
            <a:r>
              <a:rPr lang="en-US" sz="2399" strike="noStrike" u="none">
                <a:solidFill>
                  <a:srgbClr val="FDFDFD"/>
                </a:solidFill>
                <a:latin typeface="Alef Bold"/>
                <a:ea typeface="Alef Bold"/>
                <a:cs typeface="Alef Bold"/>
                <a:sym typeface="Alef Bold"/>
              </a:rPr>
              <a:t>rmer</a:t>
            </a:r>
            <a:r>
              <a:rPr lang="en-US" sz="2399" strike="noStrike" u="none">
                <a:solidFill>
                  <a:srgbClr val="FDFDFD"/>
                </a:solidFill>
                <a:latin typeface="Alef Bold"/>
                <a:ea typeface="Alef Bold"/>
                <a:cs typeface="Alef Bold"/>
                <a:sym typeface="Alef Bold"/>
              </a:rPr>
              <a:t>s</a:t>
            </a:r>
            <a:r>
              <a:rPr lang="en-US" sz="2399" strike="noStrike" u="none">
                <a:solidFill>
                  <a:srgbClr val="FDFDFD"/>
                </a:solidFill>
                <a:latin typeface="Alef Bold"/>
                <a:ea typeface="Alef Bold"/>
                <a:cs typeface="Alef Bold"/>
                <a:sym typeface="Alef Bold"/>
              </a:rPr>
              <a:t> o</a:t>
            </a:r>
            <a:r>
              <a:rPr lang="en-US" sz="2399" strike="noStrike" u="none">
                <a:solidFill>
                  <a:srgbClr val="FDFDFD"/>
                </a:solidFill>
                <a:latin typeface="Alef Bold"/>
                <a:ea typeface="Alef Bold"/>
                <a:cs typeface="Alef Bold"/>
                <a:sym typeface="Alef Bold"/>
              </a:rPr>
              <a:t>utp</a:t>
            </a:r>
            <a:r>
              <a:rPr lang="en-US" sz="2399" strike="noStrike" u="none">
                <a:solidFill>
                  <a:srgbClr val="FDFDFD"/>
                </a:solidFill>
                <a:latin typeface="Alef Bold"/>
                <a:ea typeface="Alef Bold"/>
                <a:cs typeface="Alef Bold"/>
                <a:sym typeface="Alef Bold"/>
              </a:rPr>
              <a:t>e</a:t>
            </a:r>
            <a:r>
              <a:rPr lang="en-US" sz="2399" strike="noStrike" u="none">
                <a:solidFill>
                  <a:srgbClr val="FDFDFD"/>
                </a:solidFill>
                <a:latin typeface="Alef Bold"/>
                <a:ea typeface="Alef Bold"/>
                <a:cs typeface="Alef Bold"/>
                <a:sym typeface="Alef Bold"/>
              </a:rPr>
              <a:t>rform</a:t>
            </a:r>
            <a:r>
              <a:rPr lang="en-US" sz="2399" strike="noStrike" u="none">
                <a:solidFill>
                  <a:srgbClr val="FDFDFD"/>
                </a:solidFill>
                <a:latin typeface="Alef Bold"/>
                <a:ea typeface="Alef Bold"/>
                <a:cs typeface="Alef Bold"/>
                <a:sym typeface="Alef Bold"/>
              </a:rPr>
              <a:t> tradition</a:t>
            </a:r>
            <a:r>
              <a:rPr lang="en-US" sz="2399" strike="noStrike" u="none">
                <a:solidFill>
                  <a:srgbClr val="FDFDFD"/>
                </a:solidFill>
                <a:latin typeface="Alef Bold"/>
                <a:ea typeface="Alef Bold"/>
                <a:cs typeface="Alef Bold"/>
                <a:sym typeface="Alef Bold"/>
              </a:rPr>
              <a:t>al</a:t>
            </a:r>
            <a:r>
              <a:rPr lang="en-US" sz="2399" strike="noStrike" u="none">
                <a:solidFill>
                  <a:srgbClr val="FDFDFD"/>
                </a:solidFill>
                <a:latin typeface="Alef Bold"/>
                <a:ea typeface="Alef Bold"/>
                <a:cs typeface="Alef Bold"/>
                <a:sym typeface="Alef Bold"/>
              </a:rPr>
              <a:t> </a:t>
            </a:r>
            <a:r>
              <a:rPr lang="en-US" sz="2399" strike="noStrike" u="none">
                <a:solidFill>
                  <a:srgbClr val="FDFDFD"/>
                </a:solidFill>
                <a:latin typeface="Alef Bold"/>
                <a:ea typeface="Alef Bold"/>
                <a:cs typeface="Alef Bold"/>
                <a:sym typeface="Alef Bold"/>
              </a:rPr>
              <a:t>m</a:t>
            </a:r>
            <a:r>
              <a:rPr lang="en-US" sz="2399" strike="noStrike" u="none">
                <a:solidFill>
                  <a:srgbClr val="FDFDFD"/>
                </a:solidFill>
                <a:latin typeface="Alef Bold"/>
                <a:ea typeface="Alef Bold"/>
                <a:cs typeface="Alef Bold"/>
                <a:sym typeface="Alef Bold"/>
              </a:rPr>
              <a:t>o</a:t>
            </a:r>
            <a:r>
              <a:rPr lang="en-US" sz="2399" strike="noStrike" u="none">
                <a:solidFill>
                  <a:srgbClr val="FDFDFD"/>
                </a:solidFill>
                <a:latin typeface="Alef Bold"/>
                <a:ea typeface="Alef Bold"/>
                <a:cs typeface="Alef Bold"/>
                <a:sym typeface="Alef Bold"/>
              </a:rPr>
              <a:t>d</a:t>
            </a:r>
            <a:r>
              <a:rPr lang="en-US" sz="2399" strike="noStrike" u="none">
                <a:solidFill>
                  <a:srgbClr val="FDFDFD"/>
                </a:solidFill>
                <a:latin typeface="Alef Bold"/>
                <a:ea typeface="Alef Bold"/>
                <a:cs typeface="Alef Bold"/>
                <a:sym typeface="Alef Bold"/>
              </a:rPr>
              <a:t>e</a:t>
            </a:r>
            <a:r>
              <a:rPr lang="en-US" sz="2399" strike="noStrike" u="none">
                <a:solidFill>
                  <a:srgbClr val="FDFDFD"/>
                </a:solidFill>
                <a:latin typeface="Alef Bold"/>
                <a:ea typeface="Alef Bold"/>
                <a:cs typeface="Alef Bold"/>
                <a:sym typeface="Alef Bold"/>
              </a:rPr>
              <a:t>l</a:t>
            </a:r>
            <a:r>
              <a:rPr lang="en-US" sz="2399" strike="noStrike" u="none">
                <a:solidFill>
                  <a:srgbClr val="FDFDFD"/>
                </a:solidFill>
                <a:latin typeface="Alef Bold"/>
                <a:ea typeface="Alef Bold"/>
                <a:cs typeface="Alef Bold"/>
                <a:sym typeface="Alef Bold"/>
              </a:rPr>
              <a:t>s</a:t>
            </a:r>
          </a:p>
        </p:txBody>
      </p:sp>
      <p:sp>
        <p:nvSpPr>
          <p:cNvPr name="TextBox 22" id="22"/>
          <p:cNvSpPr txBox="true"/>
          <p:nvPr/>
        </p:nvSpPr>
        <p:spPr>
          <a:xfrm rot="0">
            <a:off x="902373" y="1660740"/>
            <a:ext cx="2978682" cy="396240"/>
          </a:xfrm>
          <a:prstGeom prst="rect">
            <a:avLst/>
          </a:prstGeom>
        </p:spPr>
        <p:txBody>
          <a:bodyPr anchor="t" rtlCol="false" tIns="0" lIns="0" bIns="0" rIns="0">
            <a:spAutoFit/>
          </a:bodyPr>
          <a:lstStyle/>
          <a:p>
            <a:pPr algn="l" marL="0" indent="0" lvl="0">
              <a:lnSpc>
                <a:spcPts val="3359"/>
              </a:lnSpc>
              <a:spcBef>
                <a:spcPct val="0"/>
              </a:spcBef>
            </a:pPr>
            <a:r>
              <a:rPr lang="en-US" sz="2399" strike="noStrike" u="none">
                <a:solidFill>
                  <a:srgbClr val="FDFDFD"/>
                </a:solidFill>
                <a:latin typeface="Alef Bold"/>
                <a:ea typeface="Alef Bold"/>
                <a:cs typeface="Alef Bold"/>
                <a:sym typeface="Alef Bold"/>
              </a:rPr>
              <a:t> Model Selection:</a:t>
            </a:r>
          </a:p>
        </p:txBody>
      </p:sp>
      <p:sp>
        <p:nvSpPr>
          <p:cNvPr name="TextBox 23" id="23"/>
          <p:cNvSpPr txBox="true"/>
          <p:nvPr/>
        </p:nvSpPr>
        <p:spPr>
          <a:xfrm rot="0">
            <a:off x="586288" y="4636737"/>
            <a:ext cx="8334873" cy="396240"/>
          </a:xfrm>
          <a:prstGeom prst="rect">
            <a:avLst/>
          </a:prstGeom>
        </p:spPr>
        <p:txBody>
          <a:bodyPr anchor="t" rtlCol="false" tIns="0" lIns="0" bIns="0" rIns="0">
            <a:spAutoFit/>
          </a:bodyPr>
          <a:lstStyle/>
          <a:p>
            <a:pPr algn="l" marL="518158" indent="-259079" lvl="1">
              <a:lnSpc>
                <a:spcPts val="3359"/>
              </a:lnSpc>
              <a:buFont typeface="Arial"/>
              <a:buChar char="•"/>
            </a:pPr>
            <a:r>
              <a:rPr lang="en-US" sz="2399" strike="noStrike" u="none">
                <a:solidFill>
                  <a:srgbClr val="FDFDFD"/>
                </a:solidFill>
                <a:latin typeface="Alef Bold"/>
                <a:ea typeface="Alef Bold"/>
                <a:cs typeface="Alef Bold"/>
                <a:sym typeface="Alef Bold"/>
              </a:rPr>
              <a:t>Perfo</a:t>
            </a:r>
            <a:r>
              <a:rPr lang="en-US" sz="2399" strike="noStrike" u="none">
                <a:solidFill>
                  <a:srgbClr val="FDFDFD"/>
                </a:solidFill>
                <a:latin typeface="Alef Bold"/>
                <a:ea typeface="Alef Bold"/>
                <a:cs typeface="Alef Bold"/>
                <a:sym typeface="Alef Bold"/>
              </a:rPr>
              <a:t>r</a:t>
            </a:r>
            <a:r>
              <a:rPr lang="en-US" sz="2399" strike="noStrike" u="none">
                <a:solidFill>
                  <a:srgbClr val="FDFDFD"/>
                </a:solidFill>
                <a:latin typeface="Alef Bold"/>
                <a:ea typeface="Alef Bold"/>
                <a:cs typeface="Alef Bold"/>
                <a:sym typeface="Alef Bold"/>
              </a:rPr>
              <a:t>m</a:t>
            </a:r>
            <a:r>
              <a:rPr lang="en-US" sz="2399" strike="noStrike" u="none">
                <a:solidFill>
                  <a:srgbClr val="FDFDFD"/>
                </a:solidFill>
                <a:latin typeface="Alef Bold"/>
                <a:ea typeface="Alef Bold"/>
                <a:cs typeface="Alef Bold"/>
                <a:sym typeface="Alef Bold"/>
              </a:rPr>
              <a:t>an</a:t>
            </a:r>
            <a:r>
              <a:rPr lang="en-US" sz="2399" strike="noStrike" u="none">
                <a:solidFill>
                  <a:srgbClr val="FDFDFD"/>
                </a:solidFill>
                <a:latin typeface="Alef Bold"/>
                <a:ea typeface="Alef Bold"/>
                <a:cs typeface="Alef Bold"/>
                <a:sym typeface="Alef Bold"/>
              </a:rPr>
              <a:t>c</a:t>
            </a:r>
            <a:r>
              <a:rPr lang="en-US" sz="2399" strike="noStrike" u="none">
                <a:solidFill>
                  <a:srgbClr val="FDFDFD"/>
                </a:solidFill>
                <a:latin typeface="Alef Bold"/>
                <a:ea typeface="Alef Bold"/>
                <a:cs typeface="Alef Bold"/>
                <a:sym typeface="Alef Bold"/>
              </a:rPr>
              <a:t>e </a:t>
            </a:r>
            <a:r>
              <a:rPr lang="en-US" sz="2399" strike="noStrike" u="none">
                <a:solidFill>
                  <a:srgbClr val="FDFDFD"/>
                </a:solidFill>
                <a:latin typeface="Alef Bold"/>
                <a:ea typeface="Alef Bold"/>
                <a:cs typeface="Alef Bold"/>
                <a:sym typeface="Alef Bold"/>
              </a:rPr>
              <a:t>re</a:t>
            </a:r>
            <a:r>
              <a:rPr lang="en-US" sz="2399" strike="noStrike" u="none">
                <a:solidFill>
                  <a:srgbClr val="FDFDFD"/>
                </a:solidFill>
                <a:latin typeface="Alef Bold"/>
                <a:ea typeface="Alef Bold"/>
                <a:cs typeface="Alef Bold"/>
                <a:sym typeface="Alef Bold"/>
              </a:rPr>
              <a:t>mai</a:t>
            </a:r>
            <a:r>
              <a:rPr lang="en-US" sz="2399" strike="noStrike" u="none">
                <a:solidFill>
                  <a:srgbClr val="FDFDFD"/>
                </a:solidFill>
                <a:latin typeface="Alef Bold"/>
                <a:ea typeface="Alef Bold"/>
                <a:cs typeface="Alef Bold"/>
                <a:sym typeface="Alef Bold"/>
              </a:rPr>
              <a:t>n</a:t>
            </a:r>
            <a:r>
              <a:rPr lang="en-US" sz="2399" strike="noStrike" u="none">
                <a:solidFill>
                  <a:srgbClr val="FDFDFD"/>
                </a:solidFill>
                <a:latin typeface="Alef Bold"/>
                <a:ea typeface="Alef Bold"/>
                <a:cs typeface="Alef Bold"/>
                <a:sym typeface="Alef Bold"/>
              </a:rPr>
              <a:t>s </a:t>
            </a:r>
            <a:r>
              <a:rPr lang="en-US" sz="2399" strike="noStrike" u="none">
                <a:solidFill>
                  <a:srgbClr val="FDFDFD"/>
                </a:solidFill>
                <a:latin typeface="Alef Bold"/>
                <a:ea typeface="Alef Bold"/>
                <a:cs typeface="Alef Bold"/>
                <a:sym typeface="Alef Bold"/>
              </a:rPr>
              <a:t>stab</a:t>
            </a:r>
            <a:r>
              <a:rPr lang="en-US" sz="2399" strike="noStrike" u="none">
                <a:solidFill>
                  <a:srgbClr val="FDFDFD"/>
                </a:solidFill>
                <a:latin typeface="Alef Bold"/>
                <a:ea typeface="Alef Bold"/>
                <a:cs typeface="Alef Bold"/>
                <a:sym typeface="Alef Bold"/>
              </a:rPr>
              <a:t>le u</a:t>
            </a:r>
            <a:r>
              <a:rPr lang="en-US" sz="2399" strike="noStrike" u="none">
                <a:solidFill>
                  <a:srgbClr val="FDFDFD"/>
                </a:solidFill>
                <a:latin typeface="Alef Bold"/>
                <a:ea typeface="Alef Bold"/>
                <a:cs typeface="Alef Bold"/>
                <a:sym typeface="Alef Bold"/>
              </a:rPr>
              <a:t>nd</a:t>
            </a:r>
            <a:r>
              <a:rPr lang="en-US" sz="2399" strike="noStrike" u="none">
                <a:solidFill>
                  <a:srgbClr val="FDFDFD"/>
                </a:solidFill>
                <a:latin typeface="Alef Bold"/>
                <a:ea typeface="Alef Bold"/>
                <a:cs typeface="Alef Bold"/>
                <a:sym typeface="Alef Bold"/>
              </a:rPr>
              <a:t>e</a:t>
            </a:r>
            <a:r>
              <a:rPr lang="en-US" sz="2399" strike="noStrike" u="none">
                <a:solidFill>
                  <a:srgbClr val="FDFDFD"/>
                </a:solidFill>
                <a:latin typeface="Alef Bold"/>
                <a:ea typeface="Alef Bold"/>
                <a:cs typeface="Alef Bold"/>
                <a:sym typeface="Alef Bold"/>
              </a:rPr>
              <a:t>r</a:t>
            </a:r>
            <a:r>
              <a:rPr lang="en-US" sz="2399" strike="noStrike" u="none">
                <a:solidFill>
                  <a:srgbClr val="FDFDFD"/>
                </a:solidFill>
                <a:latin typeface="Alef Bold"/>
                <a:ea typeface="Alef Bold"/>
                <a:cs typeface="Alef Bold"/>
                <a:sym typeface="Alef Bold"/>
              </a:rPr>
              <a:t> n</a:t>
            </a:r>
            <a:r>
              <a:rPr lang="en-US" sz="2399" strike="noStrike" u="none">
                <a:solidFill>
                  <a:srgbClr val="FDFDFD"/>
                </a:solidFill>
                <a:latin typeface="Alef Bold"/>
                <a:ea typeface="Alef Bold"/>
                <a:cs typeface="Alef Bold"/>
                <a:sym typeface="Alef Bold"/>
              </a:rPr>
              <a:t>oisy</a:t>
            </a:r>
            <a:r>
              <a:rPr lang="en-US" sz="2399" strike="noStrike" u="none">
                <a:solidFill>
                  <a:srgbClr val="FDFDFD"/>
                </a:solidFill>
                <a:latin typeface="Alef Bold"/>
                <a:ea typeface="Alef Bold"/>
                <a:cs typeface="Alef Bold"/>
                <a:sym typeface="Alef Bold"/>
              </a:rPr>
              <a:t> ASR conditions</a:t>
            </a:r>
          </a:p>
        </p:txBody>
      </p:sp>
      <p:sp>
        <p:nvSpPr>
          <p:cNvPr name="TextBox 24" id="24"/>
          <p:cNvSpPr txBox="true"/>
          <p:nvPr/>
        </p:nvSpPr>
        <p:spPr>
          <a:xfrm rot="0">
            <a:off x="1204286" y="3438074"/>
            <a:ext cx="3549438" cy="447644"/>
          </a:xfrm>
          <a:prstGeom prst="rect">
            <a:avLst/>
          </a:prstGeom>
        </p:spPr>
        <p:txBody>
          <a:bodyPr anchor="t" rtlCol="false" tIns="0" lIns="0" bIns="0" rIns="0">
            <a:spAutoFit/>
          </a:bodyPr>
          <a:lstStyle/>
          <a:p>
            <a:pPr algn="ctr" marL="0" indent="0" lvl="0">
              <a:lnSpc>
                <a:spcPts val="3676"/>
              </a:lnSpc>
              <a:spcBef>
                <a:spcPct val="0"/>
              </a:spcBef>
            </a:pPr>
            <a:r>
              <a:rPr lang="en-US" sz="2626">
                <a:solidFill>
                  <a:srgbClr val="FFD166"/>
                </a:solidFill>
                <a:latin typeface="Alef Bold"/>
                <a:ea typeface="Alef Bold"/>
                <a:cs typeface="Alef Bold"/>
                <a:sym typeface="Alef Bold"/>
              </a:rPr>
              <a:t>F1 =</a:t>
            </a:r>
            <a:r>
              <a:rPr lang="en-US" sz="2626" strike="noStrike" u="none">
                <a:solidFill>
                  <a:srgbClr val="FFD166"/>
                </a:solidFill>
                <a:latin typeface="Alef Bold"/>
                <a:ea typeface="Alef Bold"/>
                <a:cs typeface="Alef Bold"/>
                <a:sym typeface="Alef Bold"/>
              </a:rPr>
              <a:t> </a:t>
            </a:r>
            <a:r>
              <a:rPr lang="en-US" sz="2626" strike="noStrike" u="none">
                <a:solidFill>
                  <a:srgbClr val="FFD166"/>
                </a:solidFill>
                <a:latin typeface="Alef Bold"/>
                <a:ea typeface="Alef Bold"/>
                <a:cs typeface="Alef Bold"/>
                <a:sym typeface="Alef Bold"/>
              </a:rPr>
              <a:t>0.664 (cl</a:t>
            </a:r>
            <a:r>
              <a:rPr lang="en-US" sz="2626" strike="noStrike" u="none">
                <a:solidFill>
                  <a:srgbClr val="FFD166"/>
                </a:solidFill>
                <a:latin typeface="Alef Bold"/>
                <a:ea typeface="Alef Bold"/>
                <a:cs typeface="Alef Bold"/>
                <a:sym typeface="Alef Bold"/>
              </a:rPr>
              <a:t>ean)</a:t>
            </a:r>
          </a:p>
        </p:txBody>
      </p:sp>
      <p:sp>
        <p:nvSpPr>
          <p:cNvPr name="TextBox 25" id="25"/>
          <p:cNvSpPr txBox="true"/>
          <p:nvPr/>
        </p:nvSpPr>
        <p:spPr>
          <a:xfrm rot="0">
            <a:off x="4385009" y="3438074"/>
            <a:ext cx="3549438" cy="447644"/>
          </a:xfrm>
          <a:prstGeom prst="rect">
            <a:avLst/>
          </a:prstGeom>
        </p:spPr>
        <p:txBody>
          <a:bodyPr anchor="t" rtlCol="false" tIns="0" lIns="0" bIns="0" rIns="0">
            <a:spAutoFit/>
          </a:bodyPr>
          <a:lstStyle/>
          <a:p>
            <a:pPr algn="ctr" marL="0" indent="0" lvl="0">
              <a:lnSpc>
                <a:spcPts val="3676"/>
              </a:lnSpc>
              <a:spcBef>
                <a:spcPct val="0"/>
              </a:spcBef>
            </a:pPr>
            <a:r>
              <a:rPr lang="en-US" sz="2626" strike="noStrike" u="none">
                <a:solidFill>
                  <a:srgbClr val="FFD166"/>
                </a:solidFill>
                <a:latin typeface="Alef Bold"/>
                <a:ea typeface="Alef Bold"/>
                <a:cs typeface="Alef Bold"/>
                <a:sym typeface="Alef Bold"/>
              </a:rPr>
              <a:t>F1 = 0.569 (noisy)</a:t>
            </a:r>
          </a:p>
        </p:txBody>
      </p:sp>
      <p:sp>
        <p:nvSpPr>
          <p:cNvPr name="TextBox 26" id="26"/>
          <p:cNvSpPr txBox="true"/>
          <p:nvPr/>
        </p:nvSpPr>
        <p:spPr>
          <a:xfrm rot="0">
            <a:off x="1028700" y="2937059"/>
            <a:ext cx="4391236" cy="396240"/>
          </a:xfrm>
          <a:prstGeom prst="rect">
            <a:avLst/>
          </a:prstGeom>
        </p:spPr>
        <p:txBody>
          <a:bodyPr anchor="t" rtlCol="false" tIns="0" lIns="0" bIns="0" rIns="0">
            <a:spAutoFit/>
          </a:bodyPr>
          <a:lstStyle/>
          <a:p>
            <a:pPr algn="l">
              <a:lnSpc>
                <a:spcPts val="3359"/>
              </a:lnSpc>
              <a:spcBef>
                <a:spcPct val="0"/>
              </a:spcBef>
            </a:pPr>
            <a:r>
              <a:rPr lang="en-US" sz="2399" strike="noStrike" u="none">
                <a:solidFill>
                  <a:srgbClr val="FDFDFD"/>
                </a:solidFill>
                <a:latin typeface="Alef Bold"/>
                <a:ea typeface="Alef Bold"/>
                <a:cs typeface="Alef Bold"/>
                <a:sym typeface="Alef Bold"/>
              </a:rPr>
              <a:t> RoBERTa Final Performance: </a:t>
            </a:r>
          </a:p>
        </p:txBody>
      </p:sp>
      <p:sp>
        <p:nvSpPr>
          <p:cNvPr name="TextBox 27" id="27"/>
          <p:cNvSpPr txBox="true"/>
          <p:nvPr/>
        </p:nvSpPr>
        <p:spPr>
          <a:xfrm rot="0">
            <a:off x="1204286" y="2268435"/>
            <a:ext cx="6519714" cy="447644"/>
          </a:xfrm>
          <a:prstGeom prst="rect">
            <a:avLst/>
          </a:prstGeom>
        </p:spPr>
        <p:txBody>
          <a:bodyPr anchor="t" rtlCol="false" tIns="0" lIns="0" bIns="0" rIns="0">
            <a:spAutoFit/>
          </a:bodyPr>
          <a:lstStyle/>
          <a:p>
            <a:pPr algn="ctr" marL="0" indent="0" lvl="0">
              <a:lnSpc>
                <a:spcPts val="3676"/>
              </a:lnSpc>
              <a:spcBef>
                <a:spcPct val="0"/>
              </a:spcBef>
            </a:pPr>
            <a:r>
              <a:rPr lang="en-US" sz="2626" strike="noStrike" u="none">
                <a:solidFill>
                  <a:srgbClr val="FFD166"/>
                </a:solidFill>
                <a:latin typeface="Alef Bold"/>
                <a:ea typeface="Alef Bold"/>
                <a:cs typeface="Alef Bold"/>
                <a:sym typeface="Alef Bold"/>
              </a:rPr>
              <a:t> Validation F1 = 0.734 → RoBERTa selected </a:t>
            </a: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12" t="0" r="-12" b="0"/>
            </a:stretch>
          </a:blipFill>
        </p:spPr>
      </p:sp>
      <p:grpSp>
        <p:nvGrpSpPr>
          <p:cNvPr name="Group 3" id="3"/>
          <p:cNvGrpSpPr/>
          <p:nvPr/>
        </p:nvGrpSpPr>
        <p:grpSpPr>
          <a:xfrm rot="0">
            <a:off x="860280" y="1975391"/>
            <a:ext cx="16746828" cy="4515713"/>
            <a:chOff x="0" y="0"/>
            <a:chExt cx="6303550" cy="1699726"/>
          </a:xfrm>
        </p:grpSpPr>
        <p:sp>
          <p:nvSpPr>
            <p:cNvPr name="Freeform 4" id="4"/>
            <p:cNvSpPr/>
            <p:nvPr/>
          </p:nvSpPr>
          <p:spPr>
            <a:xfrm flipH="false" flipV="false" rot="0">
              <a:off x="0" y="0"/>
              <a:ext cx="6303551" cy="1699726"/>
            </a:xfrm>
            <a:custGeom>
              <a:avLst/>
              <a:gdLst/>
              <a:ahLst/>
              <a:cxnLst/>
              <a:rect r="r" b="b" t="t" l="l"/>
              <a:pathLst>
                <a:path h="1699726" w="6303551">
                  <a:moveTo>
                    <a:pt x="23577" y="0"/>
                  </a:moveTo>
                  <a:lnTo>
                    <a:pt x="6279974" y="0"/>
                  </a:lnTo>
                  <a:cubicBezTo>
                    <a:pt x="6292995" y="0"/>
                    <a:pt x="6303551" y="10556"/>
                    <a:pt x="6303551" y="23577"/>
                  </a:cubicBezTo>
                  <a:lnTo>
                    <a:pt x="6303551" y="1676149"/>
                  </a:lnTo>
                  <a:cubicBezTo>
                    <a:pt x="6303551" y="1682402"/>
                    <a:pt x="6301067" y="1688399"/>
                    <a:pt x="6296645" y="1692821"/>
                  </a:cubicBezTo>
                  <a:cubicBezTo>
                    <a:pt x="6292223" y="1697242"/>
                    <a:pt x="6286227" y="1699726"/>
                    <a:pt x="6279974" y="1699726"/>
                  </a:cubicBezTo>
                  <a:lnTo>
                    <a:pt x="23577" y="1699726"/>
                  </a:lnTo>
                  <a:cubicBezTo>
                    <a:pt x="17324" y="1699726"/>
                    <a:pt x="11327" y="1697242"/>
                    <a:pt x="6906" y="1692821"/>
                  </a:cubicBezTo>
                  <a:cubicBezTo>
                    <a:pt x="2484" y="1688399"/>
                    <a:pt x="0" y="1682402"/>
                    <a:pt x="0" y="1676149"/>
                  </a:cubicBezTo>
                  <a:lnTo>
                    <a:pt x="0" y="23577"/>
                  </a:lnTo>
                  <a:cubicBezTo>
                    <a:pt x="0" y="17324"/>
                    <a:pt x="2484" y="11327"/>
                    <a:pt x="6906" y="6906"/>
                  </a:cubicBezTo>
                  <a:cubicBezTo>
                    <a:pt x="11327" y="2484"/>
                    <a:pt x="17324" y="0"/>
                    <a:pt x="23577" y="0"/>
                  </a:cubicBezTo>
                  <a:close/>
                </a:path>
              </a:pathLst>
            </a:custGeom>
            <a:solidFill>
              <a:srgbClr val="131B1F">
                <a:alpha val="81961"/>
              </a:srgbClr>
            </a:solidFill>
            <a:ln w="19050" cap="rnd">
              <a:solidFill>
                <a:srgbClr val="FFFFFF">
                  <a:alpha val="81961"/>
                </a:srgbClr>
              </a:solidFill>
              <a:prstDash val="solid"/>
              <a:round/>
            </a:ln>
          </p:spPr>
        </p:sp>
        <p:sp>
          <p:nvSpPr>
            <p:cNvPr name="TextBox 5" id="5"/>
            <p:cNvSpPr txBox="true"/>
            <p:nvPr/>
          </p:nvSpPr>
          <p:spPr>
            <a:xfrm>
              <a:off x="0" y="76200"/>
              <a:ext cx="6303550" cy="1623526"/>
            </a:xfrm>
            <a:prstGeom prst="rect">
              <a:avLst/>
            </a:prstGeom>
          </p:spPr>
          <p:txBody>
            <a:bodyPr anchor="ctr" rtlCol="false" tIns="50800" lIns="50800" bIns="50800" rIns="50800"/>
            <a:lstStyle/>
            <a:p>
              <a:pPr algn="ctr" marL="0" indent="0" lvl="0">
                <a:lnSpc>
                  <a:spcPts val="2048"/>
                </a:lnSpc>
                <a:spcBef>
                  <a:spcPct val="0"/>
                </a:spcBef>
              </a:pPr>
            </a:p>
          </p:txBody>
        </p:sp>
      </p:grpSp>
      <p:sp>
        <p:nvSpPr>
          <p:cNvPr name="Freeform 6" id="6"/>
          <p:cNvSpPr/>
          <p:nvPr/>
        </p:nvSpPr>
        <p:spPr>
          <a:xfrm flipH="false" flipV="false" rot="0">
            <a:off x="977591" y="5282382"/>
            <a:ext cx="745337" cy="726364"/>
          </a:xfrm>
          <a:custGeom>
            <a:avLst/>
            <a:gdLst/>
            <a:ahLst/>
            <a:cxnLst/>
            <a:rect r="r" b="b" t="t" l="l"/>
            <a:pathLst>
              <a:path h="726364" w="745337">
                <a:moveTo>
                  <a:pt x="0" y="0"/>
                </a:moveTo>
                <a:lnTo>
                  <a:pt x="745337" y="0"/>
                </a:lnTo>
                <a:lnTo>
                  <a:pt x="745337" y="726365"/>
                </a:lnTo>
                <a:lnTo>
                  <a:pt x="0" y="7263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9503486" y="3124661"/>
            <a:ext cx="695715" cy="695715"/>
          </a:xfrm>
          <a:custGeom>
            <a:avLst/>
            <a:gdLst/>
            <a:ahLst/>
            <a:cxnLst/>
            <a:rect r="r" b="b" t="t" l="l"/>
            <a:pathLst>
              <a:path h="695715" w="695715">
                <a:moveTo>
                  <a:pt x="0" y="0"/>
                </a:moveTo>
                <a:lnTo>
                  <a:pt x="695715" y="0"/>
                </a:lnTo>
                <a:lnTo>
                  <a:pt x="695715" y="695715"/>
                </a:lnTo>
                <a:lnTo>
                  <a:pt x="0" y="6957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3946401" y="373063"/>
            <a:ext cx="10395198" cy="1149350"/>
          </a:xfrm>
          <a:prstGeom prst="rect">
            <a:avLst/>
          </a:prstGeom>
        </p:spPr>
        <p:txBody>
          <a:bodyPr anchor="t" rtlCol="false" tIns="0" lIns="0" bIns="0" rIns="0">
            <a:spAutoFit/>
          </a:bodyPr>
          <a:lstStyle/>
          <a:p>
            <a:pPr algn="ctr" rtl="true">
              <a:lnSpc>
                <a:spcPts val="9100"/>
              </a:lnSpc>
            </a:pPr>
            <a:r>
              <a:rPr lang="en-US" b="true" sz="6500">
                <a:solidFill>
                  <a:srgbClr val="FFFFFF"/>
                </a:solidFill>
                <a:latin typeface="Arimo Bold"/>
                <a:ea typeface="Arimo Bold"/>
                <a:cs typeface="Arimo Bold"/>
                <a:sym typeface="Arimo Bold"/>
              </a:rPr>
              <a:t>C</a:t>
            </a:r>
            <a:r>
              <a:rPr lang="en-US" b="true" sz="6500">
                <a:solidFill>
                  <a:srgbClr val="FFFFFF"/>
                </a:solidFill>
                <a:latin typeface="Arimo Bold"/>
                <a:ea typeface="Arimo Bold"/>
                <a:cs typeface="Arimo Bold"/>
                <a:sym typeface="Arimo Bold"/>
              </a:rPr>
              <a:t>onclusion &amp; Future Work</a:t>
            </a:r>
          </a:p>
        </p:txBody>
      </p:sp>
      <p:sp>
        <p:nvSpPr>
          <p:cNvPr name="TextBox 9" id="9"/>
          <p:cNvSpPr txBox="true"/>
          <p:nvPr/>
        </p:nvSpPr>
        <p:spPr>
          <a:xfrm rot="0">
            <a:off x="1858982" y="5049617"/>
            <a:ext cx="7178506" cy="1153795"/>
          </a:xfrm>
          <a:prstGeom prst="rect">
            <a:avLst/>
          </a:prstGeom>
        </p:spPr>
        <p:txBody>
          <a:bodyPr anchor="t" rtlCol="false" tIns="0" lIns="0" bIns="0" rIns="0">
            <a:spAutoFit/>
          </a:bodyPr>
          <a:lstStyle/>
          <a:p>
            <a:pPr algn="l">
              <a:lnSpc>
                <a:spcPts val="3079"/>
              </a:lnSpc>
            </a:pPr>
            <a:r>
              <a:rPr lang="en-US" sz="2199">
                <a:solidFill>
                  <a:srgbClr val="FDFDFD"/>
                </a:solidFill>
                <a:latin typeface="Alef Bold"/>
                <a:ea typeface="Alef Bold"/>
                <a:cs typeface="Alef Bold"/>
                <a:sym typeface="Alef Bold"/>
              </a:rPr>
              <a:t>Demo</a:t>
            </a:r>
            <a:r>
              <a:rPr lang="en-US" sz="2199" strike="noStrike" u="none">
                <a:solidFill>
                  <a:srgbClr val="FDFDFD"/>
                </a:solidFill>
                <a:latin typeface="Alef Bold"/>
                <a:ea typeface="Alef Bold"/>
                <a:cs typeface="Alef Bold"/>
                <a:sym typeface="Alef Bold"/>
              </a:rPr>
              <a:t>nstrated improvement: RoBERTa is more robust than TF-IDF baselines to both adversarial phrasing and ASR transcription noise.</a:t>
            </a:r>
          </a:p>
        </p:txBody>
      </p:sp>
      <p:sp>
        <p:nvSpPr>
          <p:cNvPr name="TextBox 10" id="10"/>
          <p:cNvSpPr txBox="true"/>
          <p:nvPr/>
        </p:nvSpPr>
        <p:spPr>
          <a:xfrm rot="0">
            <a:off x="1889130" y="4005957"/>
            <a:ext cx="7203761" cy="763270"/>
          </a:xfrm>
          <a:prstGeom prst="rect">
            <a:avLst/>
          </a:prstGeom>
        </p:spPr>
        <p:txBody>
          <a:bodyPr anchor="t" rtlCol="false" tIns="0" lIns="0" bIns="0" rIns="0">
            <a:spAutoFit/>
          </a:bodyPr>
          <a:lstStyle/>
          <a:p>
            <a:pPr algn="l">
              <a:lnSpc>
                <a:spcPts val="3079"/>
              </a:lnSpc>
            </a:pPr>
            <a:r>
              <a:rPr lang="en-US" sz="2199">
                <a:solidFill>
                  <a:srgbClr val="FDFDFD"/>
                </a:solidFill>
                <a:latin typeface="Alef Bold"/>
                <a:ea typeface="Alef Bold"/>
                <a:cs typeface="Alef Bold"/>
                <a:sym typeface="Alef Bold"/>
              </a:rPr>
              <a:t>Improved classifi</a:t>
            </a:r>
            <a:r>
              <a:rPr lang="en-US" sz="2199" strike="noStrike" u="none">
                <a:solidFill>
                  <a:srgbClr val="FDFDFD"/>
                </a:solidFill>
                <a:latin typeface="Alef Bold"/>
                <a:ea typeface="Alef Bold"/>
                <a:cs typeface="Alef Bold"/>
                <a:sym typeface="Alef Bold"/>
              </a:rPr>
              <a:t>cation of </a:t>
            </a:r>
            <a:r>
              <a:rPr lang="en-US" sz="2199" strike="noStrike" u="none">
                <a:solidFill>
                  <a:srgbClr val="FDFDFD"/>
                </a:solidFill>
                <a:latin typeface="Alef Bold"/>
                <a:ea typeface="Alef Bold"/>
                <a:cs typeface="Alef Bold"/>
                <a:sym typeface="Alef Bold"/>
              </a:rPr>
              <a:t>m</a:t>
            </a:r>
            <a:r>
              <a:rPr lang="en-US" sz="2199" strike="noStrike" u="none">
                <a:solidFill>
                  <a:srgbClr val="FDFDFD"/>
                </a:solidFill>
                <a:latin typeface="Alef Bold"/>
                <a:ea typeface="Alef Bold"/>
                <a:cs typeface="Alef Bold"/>
                <a:sym typeface="Alef Bold"/>
              </a:rPr>
              <a:t>aritime messages (4 severity levels) under noisy ASR conditions</a:t>
            </a:r>
          </a:p>
        </p:txBody>
      </p:sp>
      <p:sp>
        <p:nvSpPr>
          <p:cNvPr name="TextBox 11" id="11"/>
          <p:cNvSpPr txBox="true"/>
          <p:nvPr/>
        </p:nvSpPr>
        <p:spPr>
          <a:xfrm rot="0">
            <a:off x="9503486" y="2150575"/>
            <a:ext cx="5624780" cy="533400"/>
          </a:xfrm>
          <a:prstGeom prst="rect">
            <a:avLst/>
          </a:prstGeom>
        </p:spPr>
        <p:txBody>
          <a:bodyPr anchor="t" rtlCol="false" tIns="0" lIns="0" bIns="0" rIns="0">
            <a:spAutoFit/>
          </a:bodyPr>
          <a:lstStyle/>
          <a:p>
            <a:pPr algn="just" marL="0" indent="0" lvl="0">
              <a:lnSpc>
                <a:spcPts val="4200"/>
              </a:lnSpc>
              <a:spcBef>
                <a:spcPct val="0"/>
              </a:spcBef>
            </a:pPr>
            <a:r>
              <a:rPr lang="en-US" b="true" sz="3000" strike="noStrike" u="none">
                <a:solidFill>
                  <a:srgbClr val="FFD166"/>
                </a:solidFill>
                <a:latin typeface="Arimo Bold"/>
                <a:ea typeface="Arimo Bold"/>
                <a:cs typeface="Arimo Bold"/>
                <a:sym typeface="Arimo Bold"/>
              </a:rPr>
              <a:t>REMAINING CHALLENGES:</a:t>
            </a:r>
          </a:p>
        </p:txBody>
      </p:sp>
      <p:sp>
        <p:nvSpPr>
          <p:cNvPr name="TextBox 12" id="12"/>
          <p:cNvSpPr txBox="true"/>
          <p:nvPr/>
        </p:nvSpPr>
        <p:spPr>
          <a:xfrm rot="0">
            <a:off x="1405253" y="7408381"/>
            <a:ext cx="7632234" cy="1934845"/>
          </a:xfrm>
          <a:prstGeom prst="rect">
            <a:avLst/>
          </a:prstGeom>
        </p:spPr>
        <p:txBody>
          <a:bodyPr anchor="t" rtlCol="false" tIns="0" lIns="0" bIns="0" rIns="0">
            <a:spAutoFit/>
          </a:bodyPr>
          <a:lstStyle/>
          <a:p>
            <a:pPr algn="l" marL="474979" indent="-237490" lvl="1">
              <a:lnSpc>
                <a:spcPts val="3079"/>
              </a:lnSpc>
              <a:buFont typeface="Arial"/>
              <a:buChar char="•"/>
            </a:pPr>
            <a:r>
              <a:rPr lang="en-US" sz="2199">
                <a:solidFill>
                  <a:srgbClr val="FDFDFD"/>
                </a:solidFill>
                <a:latin typeface="Alef Bold"/>
                <a:ea typeface="Alef Bold"/>
                <a:cs typeface="Alef Bold"/>
                <a:sym typeface="Alef Bold"/>
              </a:rPr>
              <a:t>Increase</a:t>
            </a:r>
            <a:r>
              <a:rPr lang="en-US" sz="2199" strike="noStrike" u="none">
                <a:solidFill>
                  <a:srgbClr val="FDFDFD"/>
                </a:solidFill>
                <a:latin typeface="Alef Bold"/>
                <a:ea typeface="Alef Bold"/>
                <a:cs typeface="Alef Bold"/>
                <a:sym typeface="Alef Bold"/>
              </a:rPr>
              <a:t> Data Aug</a:t>
            </a:r>
            <a:r>
              <a:rPr lang="en-US" sz="2199" strike="noStrike" u="none">
                <a:solidFill>
                  <a:srgbClr val="FDFDFD"/>
                </a:solidFill>
                <a:latin typeface="Alef Bold"/>
                <a:ea typeface="Alef Bold"/>
                <a:cs typeface="Alef Bold"/>
                <a:sym typeface="Alef Bold"/>
              </a:rPr>
              <a:t>m</a:t>
            </a:r>
            <a:r>
              <a:rPr lang="en-US" sz="2199" strike="noStrike" u="none">
                <a:solidFill>
                  <a:srgbClr val="FDFDFD"/>
                </a:solidFill>
                <a:latin typeface="Alef Bold"/>
                <a:ea typeface="Alef Bold"/>
                <a:cs typeface="Alef Bold"/>
                <a:sym typeface="Alef Bold"/>
              </a:rPr>
              <a:t>entation with Noisy ASR</a:t>
            </a:r>
          </a:p>
          <a:p>
            <a:pPr algn="l" marL="474979" indent="-237490" lvl="1">
              <a:lnSpc>
                <a:spcPts val="3079"/>
              </a:lnSpc>
              <a:buFont typeface="Arial"/>
              <a:buChar char="•"/>
            </a:pPr>
            <a:r>
              <a:rPr lang="en-US" sz="2199" strike="noStrike" u="none">
                <a:solidFill>
                  <a:srgbClr val="FDFDFD"/>
                </a:solidFill>
                <a:latin typeface="Alef Bold"/>
                <a:ea typeface="Alef Bold"/>
                <a:cs typeface="Alef Bold"/>
                <a:sym typeface="Alef Bold"/>
              </a:rPr>
              <a:t>Reduce Dependence on Codewords</a:t>
            </a:r>
          </a:p>
          <a:p>
            <a:pPr algn="l" marL="474979" indent="-237490" lvl="1">
              <a:lnSpc>
                <a:spcPts val="3079"/>
              </a:lnSpc>
              <a:buFont typeface="Arial"/>
              <a:buChar char="•"/>
            </a:pPr>
            <a:r>
              <a:rPr lang="en-US" sz="2199" strike="noStrike" u="none">
                <a:solidFill>
                  <a:srgbClr val="FDFDFD"/>
                </a:solidFill>
                <a:latin typeface="Alef Bold"/>
                <a:ea typeface="Alef Bold"/>
                <a:cs typeface="Alef Bold"/>
                <a:sym typeface="Alef Bold"/>
              </a:rPr>
              <a:t>Strengthen </a:t>
            </a:r>
            <a:r>
              <a:rPr lang="en-US" sz="2199" strike="noStrike" u="none">
                <a:solidFill>
                  <a:srgbClr val="FDFDFD"/>
                </a:solidFill>
                <a:latin typeface="Alef Bold"/>
                <a:ea typeface="Alef Bold"/>
                <a:cs typeface="Alef Bold"/>
                <a:sym typeface="Alef Bold"/>
              </a:rPr>
              <a:t>Contextu</a:t>
            </a:r>
            <a:r>
              <a:rPr lang="en-US" sz="2199" strike="noStrike" u="none">
                <a:solidFill>
                  <a:srgbClr val="FDFDFD"/>
                </a:solidFill>
                <a:latin typeface="Alef Bold"/>
                <a:ea typeface="Alef Bold"/>
                <a:cs typeface="Alef Bold"/>
                <a:sym typeface="Alef Bold"/>
              </a:rPr>
              <a:t>al Learning</a:t>
            </a:r>
          </a:p>
          <a:p>
            <a:pPr algn="l" marL="474979" indent="-237490" lvl="1">
              <a:lnSpc>
                <a:spcPts val="3079"/>
              </a:lnSpc>
              <a:buFont typeface="Arial"/>
              <a:buChar char="•"/>
            </a:pPr>
            <a:r>
              <a:rPr lang="en-US" sz="2199" strike="noStrike" u="none">
                <a:solidFill>
                  <a:srgbClr val="FDFDFD"/>
                </a:solidFill>
                <a:latin typeface="Alef Bold"/>
                <a:ea typeface="Alef Bold"/>
                <a:cs typeface="Alef Bold"/>
                <a:sym typeface="Alef Bold"/>
              </a:rPr>
              <a:t>Mitigate Error Propagation Across the Pipeline</a:t>
            </a:r>
          </a:p>
          <a:p>
            <a:pPr algn="l" marL="474979" indent="-237490" lvl="1">
              <a:lnSpc>
                <a:spcPts val="3079"/>
              </a:lnSpc>
              <a:buFont typeface="Arial"/>
              <a:buChar char="•"/>
            </a:pPr>
            <a:r>
              <a:rPr lang="en-US" sz="2199" strike="noStrike" u="none">
                <a:solidFill>
                  <a:srgbClr val="FDFDFD"/>
                </a:solidFill>
                <a:latin typeface="Alef Bold"/>
                <a:ea typeface="Alef Bold"/>
                <a:cs typeface="Alef Bold"/>
                <a:sym typeface="Alef Bold"/>
              </a:rPr>
              <a:t>Re-evaluate Models Under Realistic Noise Conditions</a:t>
            </a:r>
          </a:p>
        </p:txBody>
      </p:sp>
      <p:sp>
        <p:nvSpPr>
          <p:cNvPr name="TextBox 13" id="13"/>
          <p:cNvSpPr txBox="true"/>
          <p:nvPr/>
        </p:nvSpPr>
        <p:spPr>
          <a:xfrm rot="0">
            <a:off x="1889130" y="2227443"/>
            <a:ext cx="7559408" cy="1544320"/>
          </a:xfrm>
          <a:prstGeom prst="rect">
            <a:avLst/>
          </a:prstGeom>
        </p:spPr>
        <p:txBody>
          <a:bodyPr anchor="t" rtlCol="false" tIns="0" lIns="0" bIns="0" rIns="0">
            <a:spAutoFit/>
          </a:bodyPr>
          <a:lstStyle/>
          <a:p>
            <a:pPr algn="l">
              <a:lnSpc>
                <a:spcPts val="3079"/>
              </a:lnSpc>
              <a:spcBef>
                <a:spcPct val="0"/>
              </a:spcBef>
            </a:pPr>
            <a:r>
              <a:rPr lang="en-US" sz="2199">
                <a:solidFill>
                  <a:srgbClr val="FFFFFF"/>
                </a:solidFill>
                <a:latin typeface="Alef Bold"/>
                <a:ea typeface="Alef Bold"/>
                <a:cs typeface="Alef Bold"/>
                <a:sym typeface="Alef Bold"/>
              </a:rPr>
              <a:t>The pipeline successfully implements an end-to-end pipeline that transforms noisy ASR transcripts into a structured JSON output, including vessel name, location, and nature of distress</a:t>
            </a:r>
          </a:p>
        </p:txBody>
      </p:sp>
      <p:sp>
        <p:nvSpPr>
          <p:cNvPr name="Freeform 14" id="14"/>
          <p:cNvSpPr/>
          <p:nvPr/>
        </p:nvSpPr>
        <p:spPr>
          <a:xfrm flipH="false" flipV="false" rot="0">
            <a:off x="977591" y="2320792"/>
            <a:ext cx="745337" cy="726364"/>
          </a:xfrm>
          <a:custGeom>
            <a:avLst/>
            <a:gdLst/>
            <a:ahLst/>
            <a:cxnLst/>
            <a:rect r="r" b="b" t="t" l="l"/>
            <a:pathLst>
              <a:path h="726364" w="745337">
                <a:moveTo>
                  <a:pt x="0" y="0"/>
                </a:moveTo>
                <a:lnTo>
                  <a:pt x="745337" y="0"/>
                </a:lnTo>
                <a:lnTo>
                  <a:pt x="745337" y="726365"/>
                </a:lnTo>
                <a:lnTo>
                  <a:pt x="0" y="7263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977591" y="4044057"/>
            <a:ext cx="745337" cy="726364"/>
          </a:xfrm>
          <a:custGeom>
            <a:avLst/>
            <a:gdLst/>
            <a:ahLst/>
            <a:cxnLst/>
            <a:rect r="r" b="b" t="t" l="l"/>
            <a:pathLst>
              <a:path h="726364" w="745337">
                <a:moveTo>
                  <a:pt x="0" y="0"/>
                </a:moveTo>
                <a:lnTo>
                  <a:pt x="745337" y="0"/>
                </a:lnTo>
                <a:lnTo>
                  <a:pt x="745337" y="726364"/>
                </a:lnTo>
                <a:lnTo>
                  <a:pt x="0" y="7263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118873" y="6732647"/>
            <a:ext cx="5071147" cy="533400"/>
          </a:xfrm>
          <a:prstGeom prst="rect">
            <a:avLst/>
          </a:prstGeom>
        </p:spPr>
        <p:txBody>
          <a:bodyPr anchor="t" rtlCol="false" tIns="0" lIns="0" bIns="0" rIns="0">
            <a:spAutoFit/>
          </a:bodyPr>
          <a:lstStyle/>
          <a:p>
            <a:pPr algn="l" rtl="true" marL="0" indent="0" lvl="0">
              <a:lnSpc>
                <a:spcPts val="4200"/>
              </a:lnSpc>
              <a:spcBef>
                <a:spcPct val="0"/>
              </a:spcBef>
            </a:pPr>
            <a:r>
              <a:rPr lang="en-US" b="true" sz="3000">
                <a:solidFill>
                  <a:srgbClr val="FFD166"/>
                </a:solidFill>
                <a:latin typeface="Arimo Bold"/>
                <a:ea typeface="Arimo Bold"/>
                <a:cs typeface="Arimo Bold"/>
                <a:sym typeface="Arimo Bold"/>
              </a:rPr>
              <a:t>IMP</a:t>
            </a:r>
            <a:r>
              <a:rPr lang="en-US" b="true" sz="3000">
                <a:solidFill>
                  <a:srgbClr val="FFD166"/>
                </a:solidFill>
                <a:latin typeface="Arimo Bold"/>
                <a:ea typeface="Arimo Bold"/>
                <a:cs typeface="Arimo Bold"/>
                <a:sym typeface="Arimo Bold"/>
              </a:rPr>
              <a:t>ROVEMENT ACTION</a:t>
            </a:r>
            <a:r>
              <a:rPr lang="en-US" b="true" sz="3000" strike="noStrike" u="none">
                <a:solidFill>
                  <a:srgbClr val="FFD166"/>
                </a:solidFill>
                <a:latin typeface="Arimo Bold"/>
                <a:ea typeface="Arimo Bold"/>
                <a:cs typeface="Arimo Bold"/>
                <a:sym typeface="Arimo Bold"/>
              </a:rPr>
              <a:t>S</a:t>
            </a:r>
          </a:p>
        </p:txBody>
      </p:sp>
      <p:sp>
        <p:nvSpPr>
          <p:cNvPr name="TextBox 17" id="17"/>
          <p:cNvSpPr txBox="true"/>
          <p:nvPr/>
        </p:nvSpPr>
        <p:spPr>
          <a:xfrm rot="0">
            <a:off x="9323867" y="7408381"/>
            <a:ext cx="8024648" cy="1544320"/>
          </a:xfrm>
          <a:prstGeom prst="rect">
            <a:avLst/>
          </a:prstGeom>
        </p:spPr>
        <p:txBody>
          <a:bodyPr anchor="t" rtlCol="false" tIns="0" lIns="0" bIns="0" rIns="0">
            <a:spAutoFit/>
          </a:bodyPr>
          <a:lstStyle/>
          <a:p>
            <a:pPr algn="l" marL="474979" indent="-237490" lvl="1">
              <a:lnSpc>
                <a:spcPts val="3079"/>
              </a:lnSpc>
              <a:buFont typeface="Arial"/>
              <a:buChar char="•"/>
            </a:pPr>
            <a:r>
              <a:rPr lang="en-US" sz="2199">
                <a:solidFill>
                  <a:srgbClr val="FDFDFD"/>
                </a:solidFill>
                <a:latin typeface="Alef Bold"/>
                <a:ea typeface="Alef Bold"/>
                <a:cs typeface="Alef Bold"/>
                <a:sym typeface="Alef Bold"/>
              </a:rPr>
              <a:t>Fine-tune ASR for Maritime Vocabulary</a:t>
            </a:r>
          </a:p>
          <a:p>
            <a:pPr algn="l" marL="474979" indent="-237490" lvl="1">
              <a:lnSpc>
                <a:spcPts val="3079"/>
              </a:lnSpc>
              <a:buFont typeface="Arial"/>
              <a:buChar char="•"/>
            </a:pPr>
            <a:r>
              <a:rPr lang="en-US" sz="2199">
                <a:solidFill>
                  <a:srgbClr val="FDFDFD"/>
                </a:solidFill>
                <a:latin typeface="Alef Bold"/>
                <a:ea typeface="Alef Bold"/>
                <a:cs typeface="Alef Bold"/>
                <a:sym typeface="Alef Bold"/>
              </a:rPr>
              <a:t>Add Adversarial</a:t>
            </a:r>
            <a:r>
              <a:rPr lang="en-US" sz="2199" strike="noStrike" u="none">
                <a:solidFill>
                  <a:srgbClr val="FDFDFD"/>
                </a:solidFill>
                <a:latin typeface="Alef Bold"/>
                <a:ea typeface="Alef Bold"/>
                <a:cs typeface="Alef Bold"/>
                <a:sym typeface="Alef Bold"/>
              </a:rPr>
              <a:t> Data Augmentation</a:t>
            </a:r>
          </a:p>
          <a:p>
            <a:pPr algn="l" marL="474979" indent="-237490" lvl="1">
              <a:lnSpc>
                <a:spcPts val="3079"/>
              </a:lnSpc>
              <a:buFont typeface="Arial"/>
              <a:buChar char="•"/>
            </a:pPr>
            <a:r>
              <a:rPr lang="en-US" sz="2199" strike="noStrike" u="none">
                <a:solidFill>
                  <a:srgbClr val="FDFDFD"/>
                </a:solidFill>
                <a:latin typeface="Alef Bold"/>
                <a:ea typeface="Alef Bold"/>
                <a:cs typeface="Alef Bold"/>
                <a:sym typeface="Alef Bold"/>
              </a:rPr>
              <a:t>Scale and Diversify the Dat</a:t>
            </a:r>
            <a:r>
              <a:rPr lang="en-US" sz="2199" strike="noStrike" u="none">
                <a:solidFill>
                  <a:srgbClr val="FDFDFD"/>
                </a:solidFill>
                <a:latin typeface="Alef Bold"/>
                <a:ea typeface="Alef Bold"/>
                <a:cs typeface="Alef Bold"/>
                <a:sym typeface="Alef Bold"/>
              </a:rPr>
              <a:t>as</a:t>
            </a:r>
            <a:r>
              <a:rPr lang="en-US" sz="2199" strike="noStrike" u="none">
                <a:solidFill>
                  <a:srgbClr val="FDFDFD"/>
                </a:solidFill>
                <a:latin typeface="Alef Bold"/>
                <a:ea typeface="Alef Bold"/>
                <a:cs typeface="Alef Bold"/>
                <a:sym typeface="Alef Bold"/>
              </a:rPr>
              <a:t>et</a:t>
            </a:r>
          </a:p>
          <a:p>
            <a:pPr algn="l" marL="474979" indent="-237490" lvl="1">
              <a:lnSpc>
                <a:spcPts val="3079"/>
              </a:lnSpc>
              <a:buFont typeface="Arial"/>
              <a:buChar char="•"/>
            </a:pPr>
            <a:r>
              <a:rPr lang="en-US" sz="2199" strike="noStrike" u="none">
                <a:solidFill>
                  <a:srgbClr val="FDFDFD"/>
                </a:solidFill>
                <a:latin typeface="Alef Bold"/>
                <a:ea typeface="Alef Bold"/>
                <a:cs typeface="Alef Bold"/>
                <a:sym typeface="Alef Bold"/>
              </a:rPr>
              <a:t>Extend to Additional Languages and Acoustic Features</a:t>
            </a:r>
          </a:p>
        </p:txBody>
      </p:sp>
      <p:sp>
        <p:nvSpPr>
          <p:cNvPr name="TextBox 18" id="18"/>
          <p:cNvSpPr txBox="true"/>
          <p:nvPr/>
        </p:nvSpPr>
        <p:spPr>
          <a:xfrm rot="0">
            <a:off x="9037487" y="6732647"/>
            <a:ext cx="5393327" cy="533400"/>
          </a:xfrm>
          <a:prstGeom prst="rect">
            <a:avLst/>
          </a:prstGeom>
        </p:spPr>
        <p:txBody>
          <a:bodyPr anchor="t" rtlCol="false" tIns="0" lIns="0" bIns="0" rIns="0">
            <a:spAutoFit/>
          </a:bodyPr>
          <a:lstStyle/>
          <a:p>
            <a:pPr algn="l" rtl="true" marL="0" indent="0" lvl="0">
              <a:lnSpc>
                <a:spcPts val="4200"/>
              </a:lnSpc>
              <a:spcBef>
                <a:spcPct val="0"/>
              </a:spcBef>
            </a:pPr>
            <a:r>
              <a:rPr lang="en-US" b="true" sz="3000">
                <a:solidFill>
                  <a:srgbClr val="FFD166"/>
                </a:solidFill>
                <a:latin typeface="Arimo Bold"/>
                <a:ea typeface="Arimo Bold"/>
                <a:cs typeface="Arimo Bold"/>
                <a:sym typeface="Arimo Bold"/>
              </a:rPr>
              <a:t>ADDITIONAL EXPE</a:t>
            </a:r>
            <a:r>
              <a:rPr lang="en-US" b="true" sz="3000">
                <a:solidFill>
                  <a:srgbClr val="FFD166"/>
                </a:solidFill>
                <a:latin typeface="Arimo Bold"/>
                <a:ea typeface="Arimo Bold"/>
                <a:cs typeface="Arimo Bold"/>
                <a:sym typeface="Arimo Bold"/>
              </a:rPr>
              <a:t>RIMENT</a:t>
            </a:r>
            <a:r>
              <a:rPr lang="en-US" b="true" sz="3000" strike="noStrike" u="none">
                <a:solidFill>
                  <a:srgbClr val="FFD166"/>
                </a:solidFill>
                <a:latin typeface="Arimo Bold"/>
                <a:ea typeface="Arimo Bold"/>
                <a:cs typeface="Arimo Bold"/>
                <a:sym typeface="Arimo Bold"/>
              </a:rPr>
              <a:t>S</a:t>
            </a:r>
          </a:p>
        </p:txBody>
      </p:sp>
      <p:sp>
        <p:nvSpPr>
          <p:cNvPr name="Freeform 19" id="19"/>
          <p:cNvSpPr/>
          <p:nvPr/>
        </p:nvSpPr>
        <p:spPr>
          <a:xfrm flipH="false" flipV="false" rot="0">
            <a:off x="9503486" y="4228105"/>
            <a:ext cx="695715" cy="695715"/>
          </a:xfrm>
          <a:custGeom>
            <a:avLst/>
            <a:gdLst/>
            <a:ahLst/>
            <a:cxnLst/>
            <a:rect r="r" b="b" t="t" l="l"/>
            <a:pathLst>
              <a:path h="695715" w="695715">
                <a:moveTo>
                  <a:pt x="0" y="0"/>
                </a:moveTo>
                <a:lnTo>
                  <a:pt x="695715" y="0"/>
                </a:lnTo>
                <a:lnTo>
                  <a:pt x="695715" y="695715"/>
                </a:lnTo>
                <a:lnTo>
                  <a:pt x="0" y="6957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0" id="20"/>
          <p:cNvSpPr txBox="true"/>
          <p:nvPr/>
        </p:nvSpPr>
        <p:spPr>
          <a:xfrm rot="0">
            <a:off x="10389701" y="4159355"/>
            <a:ext cx="6898174" cy="763270"/>
          </a:xfrm>
          <a:prstGeom prst="rect">
            <a:avLst/>
          </a:prstGeom>
        </p:spPr>
        <p:txBody>
          <a:bodyPr anchor="t" rtlCol="false" tIns="0" lIns="0" bIns="0" rIns="0">
            <a:spAutoFit/>
          </a:bodyPr>
          <a:lstStyle/>
          <a:p>
            <a:pPr algn="l" marL="0" indent="0" lvl="1">
              <a:lnSpc>
                <a:spcPts val="3079"/>
              </a:lnSpc>
              <a:spcBef>
                <a:spcPct val="0"/>
              </a:spcBef>
            </a:pPr>
            <a:r>
              <a:rPr lang="en-US" sz="2199" strike="noStrike" u="none">
                <a:solidFill>
                  <a:srgbClr val="FFD166"/>
                </a:solidFill>
                <a:latin typeface="Alef Bold"/>
                <a:ea typeface="Alef Bold"/>
                <a:cs typeface="Alef Bold"/>
                <a:sym typeface="Alef Bold"/>
              </a:rPr>
              <a:t>Further improvement of ASR robustness under high-noise conditions</a:t>
            </a:r>
          </a:p>
        </p:txBody>
      </p:sp>
      <p:sp>
        <p:nvSpPr>
          <p:cNvPr name="TextBox 21" id="21"/>
          <p:cNvSpPr txBox="true"/>
          <p:nvPr/>
        </p:nvSpPr>
        <p:spPr>
          <a:xfrm rot="0">
            <a:off x="10389701" y="3086561"/>
            <a:ext cx="7245983" cy="763270"/>
          </a:xfrm>
          <a:prstGeom prst="rect">
            <a:avLst/>
          </a:prstGeom>
        </p:spPr>
        <p:txBody>
          <a:bodyPr anchor="t" rtlCol="false" tIns="0" lIns="0" bIns="0" rIns="0">
            <a:spAutoFit/>
          </a:bodyPr>
          <a:lstStyle/>
          <a:p>
            <a:pPr algn="l" marL="0" indent="0" lvl="1">
              <a:lnSpc>
                <a:spcPts val="3079"/>
              </a:lnSpc>
              <a:spcBef>
                <a:spcPct val="0"/>
              </a:spcBef>
            </a:pPr>
            <a:r>
              <a:rPr lang="en-US" sz="2199" strike="noStrike" u="none">
                <a:solidFill>
                  <a:srgbClr val="FFD166"/>
                </a:solidFill>
                <a:latin typeface="Alef Bold"/>
                <a:ea typeface="Alef Bold"/>
                <a:cs typeface="Alef Bold"/>
                <a:sym typeface="Alef Bold"/>
              </a:rPr>
              <a:t>Continued reliance on explicit codewords (e.g., MAYDAY)</a:t>
            </a: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DAG-O9_L27o</dc:identifier>
  <dcterms:modified xsi:type="dcterms:W3CDTF">2011-08-01T06:04:30Z</dcterms:modified>
  <cp:revision>1</cp:revision>
  <dc:title>!SeaAlert</dc:title>
</cp:coreProperties>
</file>